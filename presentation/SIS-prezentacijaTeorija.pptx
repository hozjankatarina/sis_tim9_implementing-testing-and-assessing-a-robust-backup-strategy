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58" r:id="rId3"/>
    <p:sldId id="259" r:id="rId4"/>
    <p:sldId id="261" r:id="rId5"/>
    <p:sldId id="297" r:id="rId6"/>
    <p:sldId id="302" r:id="rId7"/>
    <p:sldId id="263" r:id="rId8"/>
    <p:sldId id="298" r:id="rId9"/>
    <p:sldId id="264" r:id="rId10"/>
    <p:sldId id="299" r:id="rId11"/>
    <p:sldId id="300" r:id="rId12"/>
    <p:sldId id="301" r:id="rId13"/>
    <p:sldId id="303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Nunito Light" pitchFamily="2" charset="-18"/>
      <p:regular r:id="rId20"/>
      <p: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PT Sans" panose="020B0503020203020204" pitchFamily="34" charset="-18"/>
      <p:regular r:id="rId26"/>
      <p:bold r:id="rId27"/>
      <p:italic r:id="rId28"/>
      <p:boldItalic r:id="rId29"/>
    </p:embeddedFont>
    <p:embeddedFont>
      <p:font typeface="Raleway" pitchFamily="2" charset="-18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2E21B3-4C37-B5DF-809D-489A19F498F6}" v="49" dt="2025-10-23T19:55:06.393"/>
    <p1510:client id="{3777784D-EE96-B0BF-61D5-B7D871335032}" v="1603" dt="2025-10-23T19:58:18.967"/>
    <p1510:client id="{63C0D005-3B65-30D7-3F83-23C45C9F0D3C}" v="981" dt="2025-10-23T19:56:58.313"/>
    <p1510:client id="{715E7B0F-8230-CCD8-0045-374A1BF4F009}" v="564" dt="2025-10-23T19:31:39.589"/>
    <p1510:client id="{CFF31BA8-51FE-258B-1104-2146C248732F}" v="23" dt="2025-10-23T19:45:49.395"/>
  </p1510:revLst>
</p1510:revInfo>
</file>

<file path=ppt/tableStyles.xml><?xml version="1.0" encoding="utf-8"?>
<a:tblStyleLst xmlns:a="http://schemas.openxmlformats.org/drawingml/2006/main" def="{CC7851E3-8AF3-4830-B305-C1BB0B90FDFC}">
  <a:tblStyle styleId="{CC7851E3-8AF3-4830-B305-C1BB0B90FD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6CC32B0-8FFA-4F8A-AADA-E49C4AFF6B3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974" y="-274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252C5F1B-2C61-0071-DB31-D05D5360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>
            <a:extLst>
              <a:ext uri="{FF2B5EF4-FFF2-40B4-BE49-F238E27FC236}">
                <a16:creationId xmlns:a16="http://schemas.microsoft.com/office/drawing/2014/main" id="{B74FFF32-3D39-4212-6B04-C731C61B5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>
            <a:extLst>
              <a:ext uri="{FF2B5EF4-FFF2-40B4-BE49-F238E27FC236}">
                <a16:creationId xmlns:a16="http://schemas.microsoft.com/office/drawing/2014/main" id="{74BFCFDA-3F9B-769F-4955-E2E766751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39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E9FB1B7C-2DB8-DE88-5838-FD97AE9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>
            <a:extLst>
              <a:ext uri="{FF2B5EF4-FFF2-40B4-BE49-F238E27FC236}">
                <a16:creationId xmlns:a16="http://schemas.microsoft.com/office/drawing/2014/main" id="{1E97F03C-C238-7E8C-728E-6021B331B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>
            <a:extLst>
              <a:ext uri="{FF2B5EF4-FFF2-40B4-BE49-F238E27FC236}">
                <a16:creationId xmlns:a16="http://schemas.microsoft.com/office/drawing/2014/main" id="{12227A5D-5BA6-2EB8-431C-831ED6963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223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3AE5786D-AA6C-9D73-6471-F71207425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>
            <a:extLst>
              <a:ext uri="{FF2B5EF4-FFF2-40B4-BE49-F238E27FC236}">
                <a16:creationId xmlns:a16="http://schemas.microsoft.com/office/drawing/2014/main" id="{DB657D23-86E7-1431-BF57-6AC3670C5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>
            <a:extLst>
              <a:ext uri="{FF2B5EF4-FFF2-40B4-BE49-F238E27FC236}">
                <a16:creationId xmlns:a16="http://schemas.microsoft.com/office/drawing/2014/main" id="{23620AD8-6DFB-E760-36E3-786D6C86A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431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>
          <a:extLst>
            <a:ext uri="{FF2B5EF4-FFF2-40B4-BE49-F238E27FC236}">
              <a16:creationId xmlns:a16="http://schemas.microsoft.com/office/drawing/2014/main" id="{03BBA527-6CFA-6805-20EA-13323C57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>
            <a:extLst>
              <a:ext uri="{FF2B5EF4-FFF2-40B4-BE49-F238E27FC236}">
                <a16:creationId xmlns:a16="http://schemas.microsoft.com/office/drawing/2014/main" id="{0F12F775-A7BC-ED28-3390-FE9069051A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>
            <a:extLst>
              <a:ext uri="{FF2B5EF4-FFF2-40B4-BE49-F238E27FC236}">
                <a16:creationId xmlns:a16="http://schemas.microsoft.com/office/drawing/2014/main" id="{489E916F-D9AA-5055-58E8-682A0A375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692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>
          <a:extLst>
            <a:ext uri="{FF2B5EF4-FFF2-40B4-BE49-F238E27FC236}">
              <a16:creationId xmlns:a16="http://schemas.microsoft.com/office/drawing/2014/main" id="{BC1A2D57-FBA5-60FC-3277-CF9D8123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>
            <a:extLst>
              <a:ext uri="{FF2B5EF4-FFF2-40B4-BE49-F238E27FC236}">
                <a16:creationId xmlns:a16="http://schemas.microsoft.com/office/drawing/2014/main" id="{B60F2D5F-AA1F-5F08-2890-ED6C4CFCB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>
            <a:extLst>
              <a:ext uri="{FF2B5EF4-FFF2-40B4-BE49-F238E27FC236}">
                <a16:creationId xmlns:a16="http://schemas.microsoft.com/office/drawing/2014/main" id="{BAEFA1B6-DE2B-A8D1-049B-98F41E9E2D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75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8FCFE538-28A8-E930-6C96-7A9B5EF1E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>
            <a:extLst>
              <a:ext uri="{FF2B5EF4-FFF2-40B4-BE49-F238E27FC236}">
                <a16:creationId xmlns:a16="http://schemas.microsoft.com/office/drawing/2014/main" id="{568858C5-F368-28ED-451E-7C07C531D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>
            <a:extLst>
              <a:ext uri="{FF2B5EF4-FFF2-40B4-BE49-F238E27FC236}">
                <a16:creationId xmlns:a16="http://schemas.microsoft.com/office/drawing/2014/main" id="{1EA52733-FDDC-39E6-472D-F6AA4F9A7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123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rot="-4014673" flipH="1">
            <a:off x="-1798429" y="-1029372"/>
            <a:ext cx="3158476" cy="250963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355841" y="2667287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rot="8662747" flipH="1">
            <a:off x="7370974" y="4168319"/>
            <a:ext cx="2746019" cy="192168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hr-HR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8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subTitle" idx="2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8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18"/>
          <p:cNvSpPr txBox="1">
            <a:spLocks noGrp="1"/>
          </p:cNvSpPr>
          <p:nvPr>
            <p:ph type="subTitle" idx="4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8"/>
          <p:cNvSpPr txBox="1">
            <a:spLocks noGrp="1"/>
          </p:cNvSpPr>
          <p:nvPr>
            <p:ph type="subTitle" idx="5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subTitle" idx="6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7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8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subTitle" idx="9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7" name="Google Shape;547;p18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8" name="Google Shape;548;p18"/>
          <p:cNvSpPr txBox="1">
            <a:spLocks noGrp="1"/>
          </p:cNvSpPr>
          <p:nvPr>
            <p:ph type="subTitle" idx="14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subTitle" idx="15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0" name="Google Shape;550;p18"/>
          <p:cNvSpPr/>
          <p:nvPr/>
        </p:nvSpPr>
        <p:spPr>
          <a:xfrm rot="-3263452" flipH="1">
            <a:off x="7372110" y="40383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8"/>
          <p:cNvSpPr/>
          <p:nvPr/>
        </p:nvSpPr>
        <p:spPr>
          <a:xfrm rot="531647" flipH="1">
            <a:off x="-1621232" y="4095570"/>
            <a:ext cx="2581069" cy="208704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/>
          <p:nvPr/>
        </p:nvSpPr>
        <p:spPr>
          <a:xfrm rot="460658" flipH="1">
            <a:off x="7344116" y="-1448948"/>
            <a:ext cx="3053845" cy="246933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20"/>
          <p:cNvSpPr/>
          <p:nvPr/>
        </p:nvSpPr>
        <p:spPr>
          <a:xfrm rot="337739" flipH="1">
            <a:off x="8212271" y="3187242"/>
            <a:ext cx="3158465" cy="351848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rot="-3657034" flipH="1">
            <a:off x="-1404232" y="-737971"/>
            <a:ext cx="2746020" cy="16278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1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>
            <a:spLocks noGrp="1"/>
          </p:cNvSpPr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22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rot="-2493044" flipH="1">
            <a:off x="-1086706" y="-570280"/>
            <a:ext cx="2902912" cy="234728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2"/>
          <p:cNvSpPr/>
          <p:nvPr/>
        </p:nvSpPr>
        <p:spPr>
          <a:xfrm rot="-5051288" flipH="1">
            <a:off x="7227752" y="3451481"/>
            <a:ext cx="2997828" cy="2576307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2"/>
          <p:cNvSpPr/>
          <p:nvPr/>
        </p:nvSpPr>
        <p:spPr>
          <a:xfrm rot="460638" flipH="1">
            <a:off x="178423" y="3742788"/>
            <a:ext cx="1359611" cy="122255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2"/>
          <p:cNvSpPr/>
          <p:nvPr/>
        </p:nvSpPr>
        <p:spPr>
          <a:xfrm rot="460623" flipH="1">
            <a:off x="6683138" y="-2074210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noProof="0" dirty="0"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noProof="0" dirty="0"/>
              <a:t>Implementacija, testiranje i procjena otporne backup strategije</a:t>
            </a:r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256764" y="3708417"/>
            <a:ext cx="4938228" cy="6804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hr-HR" sz="1100" b="1" noProof="0" dirty="0"/>
              <a:t>Izradili: </a:t>
            </a:r>
            <a:r>
              <a:rPr lang="hr-HR" sz="1100" noProof="0" dirty="0"/>
              <a:t>Lovro </a:t>
            </a:r>
            <a:r>
              <a:rPr lang="hr-HR" sz="1100" noProof="0" dirty="0" err="1"/>
              <a:t>Balent</a:t>
            </a:r>
            <a:r>
              <a:rPr lang="hr-HR" sz="1100" noProof="0" dirty="0"/>
              <a:t>, Vedran Bogdanović, Katarina </a:t>
            </a:r>
            <a:r>
              <a:rPr lang="hr-HR" sz="1100" noProof="0" dirty="0" err="1"/>
              <a:t>Hozjan</a:t>
            </a:r>
            <a:r>
              <a:rPr lang="hr-HR" sz="1100" noProof="0" dirty="0"/>
              <a:t>, Ivana </a:t>
            </a:r>
            <a:r>
              <a:rPr lang="hr-HR" sz="1100" noProof="0" dirty="0" err="1"/>
              <a:t>Hranj</a:t>
            </a:r>
            <a:endParaRPr lang="hr-HR" sz="1100" noProof="0" dirty="0"/>
          </a:p>
          <a:p>
            <a:pPr marL="0" indent="0">
              <a:lnSpc>
                <a:spcPct val="150000"/>
              </a:lnSpc>
            </a:pPr>
            <a:r>
              <a:rPr lang="hr-HR" sz="1100" b="1" noProof="0" dirty="0"/>
              <a:t>Mentori: </a:t>
            </a:r>
            <a:r>
              <a:rPr lang="hr-HR" sz="1100" noProof="0" dirty="0">
                <a:latin typeface="Roboto"/>
                <a:ea typeface="Roboto"/>
                <a:cs typeface="Roboto"/>
              </a:rPr>
              <a:t>Izv. prof. dr. sc. Petra Grd i Izv. prof. dr. sc. Igor Tomičić</a:t>
            </a:r>
            <a:endParaRPr lang="hr-HR" sz="1100" noProof="0"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r-HR" sz="1800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Google Shape;756;p28">
            <a:extLst>
              <a:ext uri="{FF2B5EF4-FFF2-40B4-BE49-F238E27FC236}">
                <a16:creationId xmlns:a16="http://schemas.microsoft.com/office/drawing/2014/main" id="{4B1AC924-4DD2-25D4-EF53-5C0A3673BB41}"/>
              </a:ext>
            </a:extLst>
          </p:cNvPr>
          <p:cNvSpPr txBox="1">
            <a:spLocks/>
          </p:cNvSpPr>
          <p:nvPr/>
        </p:nvSpPr>
        <p:spPr>
          <a:xfrm>
            <a:off x="713225" y="734631"/>
            <a:ext cx="41121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hr-HR" noProof="0" dirty="0"/>
              <a:t>Sigurnost informacijskih sustava</a:t>
            </a:r>
          </a:p>
        </p:txBody>
      </p:sp>
      <p:pic>
        <p:nvPicPr>
          <p:cNvPr id="1026" name="Picture 2" descr="Dobro došli na FOI | FOI">
            <a:extLst>
              <a:ext uri="{FF2B5EF4-FFF2-40B4-BE49-F238E27FC236}">
                <a16:creationId xmlns:a16="http://schemas.microsoft.com/office/drawing/2014/main" id="{E990EC90-35D9-961D-C354-E65FB825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50" y="4487531"/>
            <a:ext cx="2455425" cy="43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720000" y="7852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noProof="0" dirty="0"/>
              <a:t>SADRŽAJ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7332E54-9A5E-614D-E6B4-3D930577C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309173"/>
              </p:ext>
            </p:extLst>
          </p:nvPr>
        </p:nvGraphicFramePr>
        <p:xfrm>
          <a:off x="2011680" y="1588725"/>
          <a:ext cx="5120640" cy="2646532"/>
        </p:xfrm>
        <a:graphic>
          <a:graphicData uri="http://schemas.openxmlformats.org/drawingml/2006/table">
            <a:tbl>
              <a:tblPr firstRow="1" bandRow="1">
                <a:tableStyleId>{CC7851E3-8AF3-4830-B305-C1BB0B90FDFC}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653005579"/>
                    </a:ext>
                  </a:extLst>
                </a:gridCol>
              </a:tblGrid>
              <a:tr h="378076">
                <a:tc>
                  <a:txBody>
                    <a:bodyPr/>
                    <a:lstStyle/>
                    <a:p>
                      <a:r>
                        <a:rPr lang="hr-HR" noProof="0" dirty="0"/>
                        <a:t>Backup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48660"/>
                  </a:ext>
                </a:extLst>
              </a:tr>
              <a:tr h="378076">
                <a:tc>
                  <a:txBody>
                    <a:bodyPr/>
                    <a:lstStyle/>
                    <a:p>
                      <a:r>
                        <a:rPr lang="hr-HR" noProof="0" dirty="0"/>
                        <a:t>Vrste backupa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631473"/>
                  </a:ext>
                </a:extLst>
              </a:tr>
              <a:tr h="378076">
                <a:tc>
                  <a:txBody>
                    <a:bodyPr/>
                    <a:lstStyle/>
                    <a:p>
                      <a:r>
                        <a:rPr lang="hr-HR" noProof="0" dirty="0"/>
                        <a:t>Backup strategije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737188"/>
                  </a:ext>
                </a:extLst>
              </a:tr>
              <a:tr h="378076">
                <a:tc>
                  <a:txBody>
                    <a:bodyPr/>
                    <a:lstStyle/>
                    <a:p>
                      <a:r>
                        <a:rPr lang="hr-HR" noProof="0" dirty="0"/>
                        <a:t>Backup baze podataka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666338"/>
                  </a:ext>
                </a:extLst>
              </a:tr>
              <a:tr h="378076">
                <a:tc>
                  <a:txBody>
                    <a:bodyPr/>
                    <a:lstStyle/>
                    <a:p>
                      <a:r>
                        <a:rPr lang="hr-HR" noProof="0" dirty="0"/>
                        <a:t>Oporavak podataka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519846"/>
                  </a:ext>
                </a:extLst>
              </a:tr>
              <a:tr h="378076">
                <a:tc>
                  <a:txBody>
                    <a:bodyPr/>
                    <a:lstStyle/>
                    <a:p>
                      <a:r>
                        <a:rPr lang="hr-HR" noProof="0" dirty="0"/>
                        <a:t>Vrste oporavka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718924"/>
                  </a:ext>
                </a:extLst>
              </a:tr>
              <a:tr h="378076">
                <a:tc>
                  <a:txBody>
                    <a:bodyPr/>
                    <a:lstStyle/>
                    <a:p>
                      <a:r>
                        <a:rPr lang="hr-HR" noProof="0" dirty="0"/>
                        <a:t>Plan strategije sigurnosne kopije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18111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noProof="0" dirty="0"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785941" y="772764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noProof="0" dirty="0"/>
              <a:t>Backup</a:t>
            </a:r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785941" y="1887927"/>
            <a:ext cx="4651968" cy="23546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noProof="0" dirty="0"/>
              <a:t>Sigurnosna kopija podataka za zaštitu i obnovu u slučaju gubitka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hr-HR" b="1" noProof="0" dirty="0"/>
              <a:t>Backup</a:t>
            </a:r>
            <a:r>
              <a:rPr lang="hr-HR" noProof="0" dirty="0"/>
              <a:t> – kratkoročna zaštita aktivnih podataka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hr-HR" b="1" noProof="0" dirty="0"/>
              <a:t>Arhiva</a:t>
            </a:r>
            <a:r>
              <a:rPr lang="hr-HR" noProof="0" dirty="0"/>
              <a:t> – dugoročno čuvanje neaktivnih podataka</a:t>
            </a:r>
          </a:p>
          <a:p>
            <a:pPr marL="152400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hr-HR" noProof="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hr-HR" noProof="0" dirty="0"/>
              <a:t>Ključne metrike:</a:t>
            </a:r>
          </a:p>
          <a:p>
            <a:pPr lvl="0">
              <a:spcBef>
                <a:spcPts val="1000"/>
              </a:spcBef>
            </a:pPr>
            <a:r>
              <a:rPr lang="hr-HR" b="1" noProof="0" dirty="0"/>
              <a:t>RTO </a:t>
            </a:r>
            <a:r>
              <a:rPr lang="hr-HR" noProof="0" dirty="0"/>
              <a:t>(</a:t>
            </a:r>
            <a:r>
              <a:rPr lang="hr-HR" i="1" noProof="0" dirty="0" err="1"/>
              <a:t>Recovery</a:t>
            </a:r>
            <a:r>
              <a:rPr lang="hr-HR" i="1" noProof="0" dirty="0"/>
              <a:t> Time </a:t>
            </a:r>
            <a:r>
              <a:rPr lang="hr-HR" i="1" noProof="0" dirty="0" err="1"/>
              <a:t>Objective</a:t>
            </a:r>
            <a:r>
              <a:rPr lang="hr-HR" noProof="0" dirty="0"/>
              <a:t>) – koliko brzo se sustav vraća</a:t>
            </a:r>
          </a:p>
          <a:p>
            <a:pPr lvl="0"/>
            <a:r>
              <a:rPr lang="hr-HR" b="1" noProof="0" dirty="0"/>
              <a:t>RPO </a:t>
            </a:r>
            <a:r>
              <a:rPr lang="hr-HR" noProof="0" dirty="0"/>
              <a:t>(</a:t>
            </a:r>
            <a:r>
              <a:rPr lang="hr-HR" i="1" noProof="0" dirty="0" err="1"/>
              <a:t>Recovery</a:t>
            </a:r>
            <a:r>
              <a:rPr lang="hr-HR" i="1" noProof="0" dirty="0"/>
              <a:t> </a:t>
            </a:r>
            <a:r>
              <a:rPr lang="hr-HR" i="1" noProof="0" dirty="0" err="1"/>
              <a:t>Point</a:t>
            </a:r>
            <a:r>
              <a:rPr lang="hr-HR" i="1" noProof="0" dirty="0"/>
              <a:t> </a:t>
            </a:r>
            <a:r>
              <a:rPr lang="hr-HR" i="1" noProof="0" dirty="0" err="1"/>
              <a:t>Objective</a:t>
            </a:r>
            <a:r>
              <a:rPr lang="hr-HR" noProof="0" dirty="0"/>
              <a:t>) – koliki gubitak podataka je prihvatljiv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hr-HR" noProof="0" dirty="0"/>
          </a:p>
        </p:txBody>
      </p:sp>
      <p:pic>
        <p:nvPicPr>
          <p:cNvPr id="969" name="Google Shape;969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32" r="37002" b="10007"/>
          <a:stretch/>
        </p:blipFill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970" name="Google Shape;970;p31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r-HR" sz="1800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1105601" y="601511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noProof="0" dirty="0"/>
              <a:t>Vrste backupa</a:t>
            </a:r>
          </a:p>
        </p:txBody>
      </p:sp>
      <p:sp>
        <p:nvSpPr>
          <p:cNvPr id="1104" name="Google Shape;1104;p33"/>
          <p:cNvSpPr txBox="1">
            <a:spLocks noGrp="1"/>
          </p:cNvSpPr>
          <p:nvPr>
            <p:ph type="subTitle" idx="1"/>
          </p:nvPr>
        </p:nvSpPr>
        <p:spPr>
          <a:xfrm>
            <a:off x="1105601" y="1992011"/>
            <a:ext cx="6932797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hr-HR" b="1" noProof="0" dirty="0"/>
              <a:t>Puni (</a:t>
            </a:r>
            <a:r>
              <a:rPr lang="hr-HR" b="1" noProof="0" dirty="0" err="1"/>
              <a:t>full</a:t>
            </a:r>
            <a:r>
              <a:rPr lang="hr-HR" b="1" noProof="0" dirty="0"/>
              <a:t>)</a:t>
            </a:r>
            <a:endParaRPr lang="en-US" b="1" dirty="0"/>
          </a:p>
          <a:p>
            <a:pPr lvl="1" algn="l">
              <a:lnSpc>
                <a:spcPct val="150000"/>
              </a:lnSpc>
              <a:buClrTx/>
            </a:pPr>
            <a:r>
              <a:rPr lang="hr-HR" noProof="0" dirty="0"/>
              <a:t>cijela kopija podataka, najpouzdaniji, ali najsporiji i troši najviše prostora</a:t>
            </a:r>
          </a:p>
          <a:p>
            <a:pPr>
              <a:lnSpc>
                <a:spcPct val="150000"/>
              </a:lnSpc>
            </a:pPr>
            <a:r>
              <a:rPr lang="hr-HR" b="1" noProof="0" dirty="0"/>
              <a:t>Diferencijalni (</a:t>
            </a:r>
            <a:r>
              <a:rPr lang="hr-HR" b="1" noProof="0" dirty="0" err="1"/>
              <a:t>differential</a:t>
            </a:r>
            <a:r>
              <a:rPr lang="hr-HR" b="1" noProof="0" dirty="0"/>
              <a:t>)</a:t>
            </a:r>
            <a:endParaRPr lang="en-US" b="1" dirty="0"/>
          </a:p>
          <a:p>
            <a:pPr lvl="1" algn="l">
              <a:lnSpc>
                <a:spcPct val="150000"/>
              </a:lnSpc>
              <a:buClrTx/>
            </a:pPr>
            <a:r>
              <a:rPr lang="hr-HR" noProof="0" dirty="0"/>
              <a:t>promjene od zadnjeg punog backupa -&gt; jednostavan i brz </a:t>
            </a:r>
            <a:r>
              <a:rPr lang="hr-HR" noProof="0" dirty="0" err="1"/>
              <a:t>restore</a:t>
            </a:r>
            <a:endParaRPr lang="hr-HR" noProof="0" dirty="0"/>
          </a:p>
          <a:p>
            <a:pPr>
              <a:lnSpc>
                <a:spcPct val="150000"/>
              </a:lnSpc>
            </a:pPr>
            <a:r>
              <a:rPr lang="hr-HR" b="1" noProof="0" dirty="0"/>
              <a:t>Inkrementalni (</a:t>
            </a:r>
            <a:r>
              <a:rPr lang="hr-HR" b="1" noProof="0" dirty="0" err="1"/>
              <a:t>incremental</a:t>
            </a:r>
            <a:r>
              <a:rPr lang="hr-HR" b="1" noProof="0" dirty="0"/>
              <a:t>)</a:t>
            </a:r>
            <a:endParaRPr lang="en-US" b="1" dirty="0"/>
          </a:p>
          <a:p>
            <a:pPr lvl="1" algn="l">
              <a:lnSpc>
                <a:spcPct val="150000"/>
              </a:lnSpc>
              <a:buClrTx/>
            </a:pPr>
            <a:r>
              <a:rPr lang="hr-HR" noProof="0" dirty="0"/>
              <a:t>samo promjene od zadnjeg backupa (bilo kojeg) -&gt; štedljiv, ali oporavak sporiji</a:t>
            </a:r>
          </a:p>
          <a:p>
            <a:pPr marL="171450" indent="-171450"/>
            <a:endParaRPr lang="hr-H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D95AEB39-933C-0FFC-E62E-4CDFF03E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>
            <a:extLst>
              <a:ext uri="{FF2B5EF4-FFF2-40B4-BE49-F238E27FC236}">
                <a16:creationId xmlns:a16="http://schemas.microsoft.com/office/drawing/2014/main" id="{02BF7BE5-38C1-37EF-861E-F2CF497C82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1026" y="410442"/>
            <a:ext cx="5116200" cy="10538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hr-HR" noProof="0" dirty="0"/>
              <a:t>Backup strategije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AC96D-332D-85BF-A1A3-471484C1C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0080" y="1464306"/>
            <a:ext cx="3299927" cy="1288024"/>
          </a:xfrm>
        </p:spPr>
        <p:txBody>
          <a:bodyPr/>
          <a:lstStyle/>
          <a:p>
            <a:pPr marL="152400" indent="0">
              <a:buNone/>
            </a:pPr>
            <a:r>
              <a:rPr lang="hr-HR" noProof="0" dirty="0"/>
              <a:t>Odabir strategije ovisi o: </a:t>
            </a:r>
          </a:p>
          <a:p>
            <a:r>
              <a:rPr lang="hr-HR" noProof="0" dirty="0"/>
              <a:t>učestalosti promjene podataka, </a:t>
            </a:r>
          </a:p>
          <a:p>
            <a:r>
              <a:rPr lang="hr-HR" noProof="0" dirty="0"/>
              <a:t>dostupnim resursima, </a:t>
            </a:r>
          </a:p>
          <a:p>
            <a:r>
              <a:rPr lang="hr-HR" noProof="0" dirty="0"/>
              <a:t>zahtjevima za brzinom oporavka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3BEE79E-A0E3-0746-6B17-299BA21C40B8}"/>
              </a:ext>
            </a:extLst>
          </p:cNvPr>
          <p:cNvSpPr txBox="1">
            <a:spLocks/>
          </p:cNvSpPr>
          <p:nvPr/>
        </p:nvSpPr>
        <p:spPr>
          <a:xfrm>
            <a:off x="346323" y="2983087"/>
            <a:ext cx="4223721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52400" indent="0">
              <a:buNone/>
            </a:pPr>
            <a:r>
              <a:rPr lang="hr-HR" b="1" noProof="0" dirty="0"/>
              <a:t>DNEVNI BACKUP (DAILY BACKUP)</a:t>
            </a:r>
            <a:endParaRPr lang="hr-HR" noProof="0" dirty="0"/>
          </a:p>
          <a:p>
            <a:r>
              <a:rPr lang="hr-HR" noProof="0" dirty="0"/>
              <a:t>najosnovniji oblik sigurnosne kopije</a:t>
            </a:r>
          </a:p>
          <a:p>
            <a:r>
              <a:rPr lang="hr-HR" noProof="0" dirty="0"/>
              <a:t>jednom dnevno, najčešće noću</a:t>
            </a:r>
          </a:p>
          <a:p>
            <a:pPr marL="152400" indent="0">
              <a:buNone/>
            </a:pPr>
            <a:r>
              <a:rPr lang="hr-HR" noProof="0" dirty="0"/>
              <a:t>Prednost: redovita zaštita uz mali utjecaj na sustav</a:t>
            </a:r>
          </a:p>
          <a:p>
            <a:pPr marL="152400" indent="0">
              <a:buNone/>
            </a:pPr>
            <a:r>
              <a:rPr lang="hr-HR" noProof="0" dirty="0"/>
              <a:t>Nedostatak: mogući gubitak podataka između dva ciklusa </a:t>
            </a:r>
          </a:p>
          <a:p>
            <a:pPr marL="323850" indent="-171450">
              <a:buFont typeface="Arial"/>
              <a:buChar char="•"/>
            </a:pPr>
            <a:endParaRPr lang="hr-HR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24D5AD1-2454-E542-A02E-A6BED16BD6AC}"/>
              </a:ext>
            </a:extLst>
          </p:cNvPr>
          <p:cNvSpPr txBox="1">
            <a:spLocks/>
          </p:cNvSpPr>
          <p:nvPr/>
        </p:nvSpPr>
        <p:spPr>
          <a:xfrm>
            <a:off x="4793061" y="2983086"/>
            <a:ext cx="4239379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52400" indent="0">
              <a:buNone/>
            </a:pPr>
            <a:r>
              <a:rPr lang="hr-HR" b="1" noProof="0" dirty="0"/>
              <a:t>PRAVILO 3-2-1</a:t>
            </a:r>
          </a:p>
          <a:p>
            <a:r>
              <a:rPr lang="hr-HR" noProof="0" dirty="0"/>
              <a:t>Industrijski standard za zaštitu podataka</a:t>
            </a:r>
          </a:p>
          <a:p>
            <a:r>
              <a:rPr lang="hr-HR" noProof="0" dirty="0"/>
              <a:t>3 kopije podataka – 1 primarna + 2 sigurnosne</a:t>
            </a:r>
          </a:p>
          <a:p>
            <a:r>
              <a:rPr lang="hr-HR" noProof="0" dirty="0"/>
              <a:t>2 različita medija (npr. disk i oblak)</a:t>
            </a:r>
          </a:p>
          <a:p>
            <a:r>
              <a:rPr lang="hr-HR" noProof="0" dirty="0"/>
              <a:t>1 kopija </a:t>
            </a:r>
            <a:r>
              <a:rPr lang="hr-HR" noProof="0" dirty="0" err="1"/>
              <a:t>off</a:t>
            </a:r>
            <a:r>
              <a:rPr lang="hr-HR" noProof="0" dirty="0"/>
              <a:t>-site (udaljena lokacija)</a:t>
            </a:r>
          </a:p>
          <a:p>
            <a:r>
              <a:rPr lang="hr-HR" noProof="0" dirty="0"/>
              <a:t>smanjuje rizik od fizičkih oštećenja, krađe i katastrofe </a:t>
            </a:r>
          </a:p>
        </p:txBody>
      </p:sp>
    </p:spTree>
    <p:extLst>
      <p:ext uri="{BB962C8B-B14F-4D97-AF65-F5344CB8AC3E}">
        <p14:creationId xmlns:p14="http://schemas.microsoft.com/office/powerpoint/2010/main" val="3696547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8408B03B-7E0E-1389-6F13-A82DA7A1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>
            <a:extLst>
              <a:ext uri="{FF2B5EF4-FFF2-40B4-BE49-F238E27FC236}">
                <a16:creationId xmlns:a16="http://schemas.microsoft.com/office/drawing/2014/main" id="{36604F60-E86C-E3B5-2C90-9B7484FB6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064" y="227818"/>
            <a:ext cx="5116200" cy="10538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noProof="0" dirty="0"/>
              <a:t>Backup strategije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DE412A7-B662-6B6C-B429-F89A26C7CE24}"/>
              </a:ext>
            </a:extLst>
          </p:cNvPr>
          <p:cNvSpPr txBox="1">
            <a:spLocks/>
          </p:cNvSpPr>
          <p:nvPr/>
        </p:nvSpPr>
        <p:spPr>
          <a:xfrm>
            <a:off x="4738261" y="1534766"/>
            <a:ext cx="4223721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52400" indent="0">
              <a:buNone/>
            </a:pPr>
            <a:r>
              <a:rPr lang="hr-HR" b="1" noProof="0" dirty="0"/>
              <a:t>TOWER OF HANOI STRATEGIJA</a:t>
            </a:r>
          </a:p>
          <a:p>
            <a:r>
              <a:rPr lang="hr-HR" noProof="0" dirty="0"/>
              <a:t>temeljena na istoimenoj matematičkoj slagalici</a:t>
            </a:r>
          </a:p>
          <a:p>
            <a:r>
              <a:rPr lang="hr-HR" noProof="0" dirty="0"/>
              <a:t>kombinira učinkovitost i dubinu povijesnih kopija</a:t>
            </a:r>
          </a:p>
          <a:p>
            <a:r>
              <a:rPr lang="hr-HR" noProof="0" dirty="0"/>
              <a:t>svaka sigurnosna kopija (backup) radi se na drugom mediju u određenim vremenskim razmacima</a:t>
            </a:r>
          </a:p>
          <a:p>
            <a:r>
              <a:rPr lang="hr-HR" noProof="0" dirty="0"/>
              <a:t>neke se kopije stvaraju često, a druge rjeđe, što omogućuje dugoročnu povijest podataka uz manji broj medija</a:t>
            </a:r>
          </a:p>
          <a:p>
            <a:pPr marL="323850" indent="-171450">
              <a:buFont typeface="Arial"/>
              <a:buChar char="•"/>
            </a:pPr>
            <a:endParaRPr lang="hr-HR" b="1" noProof="0" dirty="0"/>
          </a:p>
          <a:p>
            <a:pPr marL="152400" indent="0">
              <a:buNone/>
            </a:pPr>
            <a:endParaRPr lang="hr-HR" noProof="0" dirty="0"/>
          </a:p>
          <a:p>
            <a:pPr marL="323850" indent="-171450">
              <a:buFont typeface="Arial"/>
              <a:buChar char="•"/>
            </a:pPr>
            <a:endParaRPr lang="hr-HR" noProof="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0AEFDD0-57E8-57C0-4BAC-24C31359478C}"/>
              </a:ext>
            </a:extLst>
          </p:cNvPr>
          <p:cNvSpPr txBox="1">
            <a:spLocks/>
          </p:cNvSpPr>
          <p:nvPr/>
        </p:nvSpPr>
        <p:spPr>
          <a:xfrm>
            <a:off x="4738260" y="3523271"/>
            <a:ext cx="4239379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52400" indent="0">
              <a:buNone/>
            </a:pPr>
            <a:r>
              <a:rPr lang="hr-HR" b="1" noProof="0" dirty="0"/>
              <a:t>HIBRIDNA STRATEGIJA (</a:t>
            </a:r>
            <a:r>
              <a:rPr lang="hr-HR" b="1" noProof="0" dirty="0" err="1"/>
              <a:t>Hybrid</a:t>
            </a:r>
            <a:r>
              <a:rPr lang="hr-HR" b="1" noProof="0" dirty="0"/>
              <a:t> backup)</a:t>
            </a:r>
          </a:p>
          <a:p>
            <a:r>
              <a:rPr lang="hr-HR" noProof="0" dirty="0"/>
              <a:t>kombinacija lokalne i cloud pohrane</a:t>
            </a:r>
          </a:p>
          <a:p>
            <a:r>
              <a:rPr lang="en-US" dirty="0"/>
              <a:t>o</a:t>
            </a:r>
            <a:r>
              <a:rPr lang="hr-HR" noProof="0" dirty="0" err="1"/>
              <a:t>mogućuje</a:t>
            </a:r>
            <a:r>
              <a:rPr lang="hr-HR" noProof="0" dirty="0"/>
              <a:t> najbolje od oba svijeta: </a:t>
            </a:r>
          </a:p>
          <a:p>
            <a:pPr lvl="1" algn="l">
              <a:buClrTx/>
            </a:pPr>
            <a:r>
              <a:rPr lang="hr-HR" noProof="0" dirty="0"/>
              <a:t>brz lokalni oporavak u slučaju manjih kvarova</a:t>
            </a:r>
          </a:p>
          <a:p>
            <a:pPr lvl="1" algn="l">
              <a:buClrTx/>
            </a:pPr>
            <a:r>
              <a:rPr lang="hr-HR" noProof="0" dirty="0"/>
              <a:t>otpornost i skalabilnost oblaka za zaštitu od većih incidenata ili fizičkih oštećenja</a:t>
            </a:r>
          </a:p>
          <a:p>
            <a:pPr marL="152400" indent="0">
              <a:buNone/>
            </a:pPr>
            <a:endParaRPr lang="hr-HR" sz="1100" noProof="0" dirty="0"/>
          </a:p>
          <a:p>
            <a:pPr marL="323850" indent="-171450">
              <a:buFont typeface="Arial"/>
              <a:buChar char="•"/>
            </a:pPr>
            <a:endParaRPr lang="hr-HR" sz="1100" noProof="0" dirty="0">
              <a:latin typeface="Arial"/>
              <a:cs typeface="Arial"/>
            </a:endParaRPr>
          </a:p>
          <a:p>
            <a:pPr marL="323850" indent="-171450">
              <a:buFont typeface="Arial"/>
              <a:buChar char="•"/>
            </a:pPr>
            <a:endParaRPr lang="hr-HR" noProof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FBC7D0E-D27B-6F5F-1900-D79E0F25BFDE}"/>
              </a:ext>
            </a:extLst>
          </p:cNvPr>
          <p:cNvSpPr txBox="1">
            <a:spLocks/>
          </p:cNvSpPr>
          <p:nvPr/>
        </p:nvSpPr>
        <p:spPr>
          <a:xfrm>
            <a:off x="495067" y="1941859"/>
            <a:ext cx="4239379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52400" indent="0">
              <a:buNone/>
            </a:pPr>
            <a:r>
              <a:rPr lang="hr-HR" b="1" noProof="0" dirty="0"/>
              <a:t>GFS  STRATEGIJA (</a:t>
            </a:r>
            <a:r>
              <a:rPr lang="hr-HR" b="1" noProof="0" dirty="0" err="1"/>
              <a:t>Grandfather</a:t>
            </a:r>
            <a:r>
              <a:rPr lang="hr-HR" b="1" noProof="0" dirty="0"/>
              <a:t>–</a:t>
            </a:r>
            <a:r>
              <a:rPr lang="hr-HR" b="1" noProof="0" dirty="0" err="1"/>
              <a:t>Father</a:t>
            </a:r>
            <a:r>
              <a:rPr lang="hr-HR" b="1" noProof="0" dirty="0"/>
              <a:t>–</a:t>
            </a:r>
            <a:r>
              <a:rPr lang="hr-HR" b="1" noProof="0" dirty="0" err="1"/>
              <a:t>Son</a:t>
            </a:r>
            <a:r>
              <a:rPr lang="hr-HR" b="1" noProof="0" dirty="0"/>
              <a:t>)</a:t>
            </a:r>
          </a:p>
          <a:p>
            <a:r>
              <a:rPr lang="hr-HR" b="1" noProof="0" dirty="0"/>
              <a:t>rotacijski sustav</a:t>
            </a:r>
            <a:r>
              <a:rPr lang="hr-HR" noProof="0" dirty="0"/>
              <a:t> sigurnosnih kopija (izmjena po određenom rasporedu)</a:t>
            </a:r>
          </a:p>
          <a:p>
            <a:pPr marL="323850" indent="-171450">
              <a:buFont typeface="Arial"/>
              <a:buChar char="•"/>
            </a:pPr>
            <a:endParaRPr lang="hr-HR" noProof="0" dirty="0"/>
          </a:p>
          <a:p>
            <a:pPr marL="152400" indent="0">
              <a:buNone/>
            </a:pPr>
            <a:r>
              <a:rPr lang="hr-HR" noProof="0" dirty="0"/>
              <a:t>“Sin” → dnevni backup (čuvaju se do 30 dana) </a:t>
            </a:r>
          </a:p>
          <a:p>
            <a:pPr marL="152400" indent="0">
              <a:buNone/>
            </a:pPr>
            <a:r>
              <a:rPr lang="hr-HR" noProof="0" dirty="0"/>
              <a:t>“Otac” → tjedni (čuvaju se 365 dana)</a:t>
            </a:r>
          </a:p>
          <a:p>
            <a:pPr marL="152400" indent="0">
              <a:buNone/>
            </a:pPr>
            <a:r>
              <a:rPr lang="hr-HR" noProof="0" dirty="0"/>
              <a:t>“Djed” → mjesečni (pohranjene neograničeno)</a:t>
            </a:r>
          </a:p>
          <a:p>
            <a:pPr marL="152400" indent="0">
              <a:buNone/>
            </a:pPr>
            <a:endParaRPr lang="hr-HR" noProof="0" dirty="0"/>
          </a:p>
          <a:p>
            <a:pPr marL="152400" indent="0">
              <a:buNone/>
            </a:pPr>
            <a:r>
              <a:rPr lang="hr-HR" noProof="0" dirty="0"/>
              <a:t>Prednosti: povrat podataka s različitih vremenskih točaka</a:t>
            </a:r>
          </a:p>
          <a:p>
            <a:pPr marL="152400" indent="0">
              <a:buNone/>
            </a:pPr>
            <a:r>
              <a:rPr lang="hr-HR" noProof="0" dirty="0"/>
              <a:t>Nedostatci: složenije upravljanje i potreba za više medija</a:t>
            </a:r>
          </a:p>
          <a:p>
            <a:pPr marL="323850" indent="-171450">
              <a:buFont typeface="Arial"/>
              <a:buChar char="•"/>
            </a:pPr>
            <a:endParaRPr lang="hr-HR" noProof="0" dirty="0"/>
          </a:p>
          <a:p>
            <a:pPr marL="323850" indent="-171450">
              <a:buFont typeface="Arial"/>
              <a:buChar char="•"/>
            </a:pP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2892324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720000" y="7135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hr-HR" noProof="0" dirty="0"/>
              <a:t>Backup baza podataka</a:t>
            </a:r>
          </a:p>
        </p:txBody>
      </p:sp>
      <p:sp>
        <p:nvSpPr>
          <p:cNvPr id="1135" name="Google Shape;1135;p35"/>
          <p:cNvSpPr txBox="1">
            <a:spLocks noGrp="1"/>
          </p:cNvSpPr>
          <p:nvPr>
            <p:ph type="subTitle" idx="4"/>
          </p:nvPr>
        </p:nvSpPr>
        <p:spPr>
          <a:xfrm>
            <a:off x="1754054" y="1782823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hr-HR" noProof="0" dirty="0"/>
              <a:t>Fizički pristup</a:t>
            </a:r>
          </a:p>
        </p:txBody>
      </p:sp>
      <p:sp>
        <p:nvSpPr>
          <p:cNvPr id="1136" name="Google Shape;1136;p35"/>
          <p:cNvSpPr txBox="1">
            <a:spLocks noGrp="1"/>
          </p:cNvSpPr>
          <p:nvPr>
            <p:ph type="subTitle" idx="5"/>
          </p:nvPr>
        </p:nvSpPr>
        <p:spPr>
          <a:xfrm>
            <a:off x="5384402" y="1782287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hr-HR" noProof="0" dirty="0"/>
              <a:t>Logički pristup</a:t>
            </a:r>
          </a:p>
        </p:txBody>
      </p:sp>
      <p:sp>
        <p:nvSpPr>
          <p:cNvPr id="1137" name="Google Shape;1137;p35"/>
          <p:cNvSpPr txBox="1">
            <a:spLocks noGrp="1"/>
          </p:cNvSpPr>
          <p:nvPr>
            <p:ph type="subTitle" idx="1"/>
          </p:nvPr>
        </p:nvSpPr>
        <p:spPr>
          <a:xfrm>
            <a:off x="1754054" y="2349739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sigurnosne kopije konkretnih datoteka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brz oporavak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prikladno za veće sustave</a:t>
            </a:r>
          </a:p>
        </p:txBody>
      </p:sp>
      <p:sp>
        <p:nvSpPr>
          <p:cNvPr id="1138" name="Google Shape;1138;p35"/>
          <p:cNvSpPr txBox="1">
            <a:spLocks noGrp="1"/>
          </p:cNvSpPr>
          <p:nvPr>
            <p:ph type="subTitle" idx="2"/>
          </p:nvPr>
        </p:nvSpPr>
        <p:spPr>
          <a:xfrm>
            <a:off x="5384399" y="2348665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pohrana strukture baze u obliku SQL naredbi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ljudski čitljiv oblik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korištenje alata za izvoz naredbi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sporiji oporavak kod većih sustava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1EB95F46-E0FD-CD29-9C58-CE344B49C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>
            <a:extLst>
              <a:ext uri="{FF2B5EF4-FFF2-40B4-BE49-F238E27FC236}">
                <a16:creationId xmlns:a16="http://schemas.microsoft.com/office/drawing/2014/main" id="{8F54E5B3-D3E2-6EC4-E4E6-2AF1AD29B0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4092" y="1032514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3000" noProof="0" dirty="0"/>
              <a:t>Oporavak podataka</a:t>
            </a:r>
            <a:endParaRPr lang="hr-HR" sz="3000" b="0" noProof="0" dirty="0">
              <a:solidFill>
                <a:srgbClr val="000000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hr-HR" sz="3000" noProof="0" dirty="0"/>
          </a:p>
        </p:txBody>
      </p:sp>
      <p:sp>
        <p:nvSpPr>
          <p:cNvPr id="1104" name="Google Shape;1104;p33">
            <a:extLst>
              <a:ext uri="{FF2B5EF4-FFF2-40B4-BE49-F238E27FC236}">
                <a16:creationId xmlns:a16="http://schemas.microsoft.com/office/drawing/2014/main" id="{961B929E-D532-0D64-3C3E-1DF4D8E89E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54092" y="1998276"/>
            <a:ext cx="6932797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noProof="0" dirty="0"/>
              <a:t>proces vraćanja izgubljenih ili oštećenih podataka</a:t>
            </a:r>
          </a:p>
          <a:p>
            <a:r>
              <a:rPr lang="hr-HR" noProof="0" dirty="0"/>
              <a:t>cilj: kontinuitet rada sustava i smanjiti rizike prekida</a:t>
            </a:r>
          </a:p>
          <a:p>
            <a:r>
              <a:rPr lang="hr-HR" noProof="0" dirty="0"/>
              <a:t>potrebno evidentirati: izvor sigurnosne kopije, putanju i naziv datoteke i datum kreiranja kopije</a:t>
            </a:r>
          </a:p>
          <a:p>
            <a:r>
              <a:rPr lang="hr-HR" noProof="0" dirty="0"/>
              <a:t>plan oporavka obuhvaća: nabavu opreme u slučaju nesreće, prioritet oporavka, osobe zadužene za provedbu i stupanj automatizacije procesa</a:t>
            </a:r>
          </a:p>
        </p:txBody>
      </p:sp>
    </p:spTree>
    <p:extLst>
      <p:ext uri="{BB962C8B-B14F-4D97-AF65-F5344CB8AC3E}">
        <p14:creationId xmlns:p14="http://schemas.microsoft.com/office/powerpoint/2010/main" val="536067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noProof="0" dirty="0"/>
              <a:t>Vrste oporavka</a:t>
            </a:r>
          </a:p>
        </p:txBody>
      </p:sp>
      <p:sp>
        <p:nvSpPr>
          <p:cNvPr id="1147" name="Google Shape;1147;p36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8661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odnosi se na oporavak zasebnih datoteka, direktorija ili skupova podataka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u slučaju ljudske greške ili korupcije originala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brz i jednostavan oporavak</a:t>
            </a:r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3323123" cy="6903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hr-HR" noProof="0" dirty="0"/>
              <a:t>1/3 - Operativni oporavak</a:t>
            </a:r>
          </a:p>
        </p:txBody>
      </p:sp>
      <p:pic>
        <p:nvPicPr>
          <p:cNvPr id="1026" name="Picture 2" descr="59,200+ Worried Man Computer Stock Photos, Pictures &amp; Royalty-Free Images -  iStock">
            <a:extLst>
              <a:ext uri="{FF2B5EF4-FFF2-40B4-BE49-F238E27FC236}">
                <a16:creationId xmlns:a16="http://schemas.microsoft.com/office/drawing/2014/main" id="{CDB4552D-173F-DE3A-886A-F49E132F5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777" y="1575058"/>
            <a:ext cx="3065202" cy="199338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>
          <a:extLst>
            <a:ext uri="{FF2B5EF4-FFF2-40B4-BE49-F238E27FC236}">
              <a16:creationId xmlns:a16="http://schemas.microsoft.com/office/drawing/2014/main" id="{72B3AD14-BB30-955B-54DD-26E24731C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>
            <a:extLst>
              <a:ext uri="{FF2B5EF4-FFF2-40B4-BE49-F238E27FC236}">
                <a16:creationId xmlns:a16="http://schemas.microsoft.com/office/drawing/2014/main" id="{86C663A4-4BE7-AF2F-A4E2-4E978E308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noProof="0" dirty="0"/>
              <a:t>Vrste oporavka</a:t>
            </a:r>
          </a:p>
        </p:txBody>
      </p:sp>
      <p:sp>
        <p:nvSpPr>
          <p:cNvPr id="1147" name="Google Shape;1147;p36">
            <a:extLst>
              <a:ext uri="{FF2B5EF4-FFF2-40B4-BE49-F238E27FC236}">
                <a16:creationId xmlns:a16="http://schemas.microsoft.com/office/drawing/2014/main" id="{36F91BE3-7BFF-C878-EBA2-4338D98490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jednopotezno rješenje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vraća kompletno stanje sustava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zahtjeva sliku diska sustava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korišteno primjerice u slučaju </a:t>
            </a:r>
            <a:r>
              <a:rPr lang="hr-HR" noProof="0" dirty="0" err="1"/>
              <a:t>ransomware</a:t>
            </a:r>
            <a:r>
              <a:rPr lang="en-US" noProof="0" dirty="0"/>
              <a:t> </a:t>
            </a:r>
            <a:r>
              <a:rPr lang="hr-HR" noProof="0" dirty="0"/>
              <a:t>napada</a:t>
            </a:r>
          </a:p>
        </p:txBody>
      </p:sp>
      <p:sp>
        <p:nvSpPr>
          <p:cNvPr id="1151" name="Google Shape;1151;p36">
            <a:extLst>
              <a:ext uri="{FF2B5EF4-FFF2-40B4-BE49-F238E27FC236}">
                <a16:creationId xmlns:a16="http://schemas.microsoft.com/office/drawing/2014/main" id="{98969BE1-48E9-8268-370B-D930FB995EA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4510655" cy="69037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hr-HR" noProof="0" dirty="0"/>
              <a:t>2/3 - Oporavak sustava (servera)</a:t>
            </a:r>
          </a:p>
        </p:txBody>
      </p:sp>
      <p:pic>
        <p:nvPicPr>
          <p:cNvPr id="2050" name="Picture 2" descr="Server Recovery Solutions - RenovoData">
            <a:extLst>
              <a:ext uri="{FF2B5EF4-FFF2-40B4-BE49-F238E27FC236}">
                <a16:creationId xmlns:a16="http://schemas.microsoft.com/office/drawing/2014/main" id="{FA33B80A-7B1D-366A-DBA9-EC12AB03B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777" y="1541145"/>
            <a:ext cx="3663101" cy="20612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293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>
          <a:extLst>
            <a:ext uri="{FF2B5EF4-FFF2-40B4-BE49-F238E27FC236}">
              <a16:creationId xmlns:a16="http://schemas.microsoft.com/office/drawing/2014/main" id="{24B3D0FC-0F60-4632-8183-24265C82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>
            <a:extLst>
              <a:ext uri="{FF2B5EF4-FFF2-40B4-BE49-F238E27FC236}">
                <a16:creationId xmlns:a16="http://schemas.microsoft.com/office/drawing/2014/main" id="{C2C543CF-0082-D114-61CA-F466FD481C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noProof="0" dirty="0"/>
              <a:t>Vrste oporavka</a:t>
            </a:r>
          </a:p>
        </p:txBody>
      </p:sp>
      <p:sp>
        <p:nvSpPr>
          <p:cNvPr id="1147" name="Google Shape;1147;p36">
            <a:extLst>
              <a:ext uri="{FF2B5EF4-FFF2-40B4-BE49-F238E27FC236}">
                <a16:creationId xmlns:a16="http://schemas.microsoft.com/office/drawing/2014/main" id="{F8BC5A0F-1CC5-F608-261A-5E6EFE56A2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53226" y="2053700"/>
            <a:ext cx="4665566" cy="1912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pripremiti plan oporavka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imati rezervno okruženje</a:t>
            </a:r>
          </a:p>
          <a:p>
            <a:pPr marL="628650" lvl="1" algn="l">
              <a:buFont typeface="Courier New"/>
              <a:buChar char="o"/>
            </a:pPr>
            <a:r>
              <a:rPr lang="hr-HR" noProof="0" dirty="0"/>
              <a:t>vlastito</a:t>
            </a:r>
          </a:p>
          <a:p>
            <a:pPr marL="628650" lvl="1" algn="l">
              <a:buFont typeface="Courier New"/>
              <a:buChar char="o"/>
            </a:pPr>
            <a:r>
              <a:rPr lang="hr-HR" noProof="0" dirty="0"/>
              <a:t>kao servis</a:t>
            </a:r>
          </a:p>
          <a:p>
            <a:pPr marL="628650" lvl="1" algn="l">
              <a:buFont typeface="Courier New"/>
              <a:buChar char="o"/>
            </a:pPr>
            <a:r>
              <a:rPr lang="hr-HR" noProof="0" dirty="0"/>
              <a:t>cloud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noProof="0" dirty="0"/>
              <a:t>ažurnost rezervnog okruženja - ovisno o zahtjevima RTO i RPO</a:t>
            </a:r>
          </a:p>
          <a:p>
            <a:pPr marL="628650" lvl="1" algn="l">
              <a:buFont typeface="Courier New"/>
              <a:buChar char="o"/>
            </a:pPr>
            <a:r>
              <a:rPr lang="hr-HR" noProof="0" dirty="0"/>
              <a:t>hladno (</a:t>
            </a:r>
            <a:r>
              <a:rPr lang="hr-HR" i="1" noProof="0" dirty="0" err="1"/>
              <a:t>cold</a:t>
            </a:r>
            <a:r>
              <a:rPr lang="hr-HR" noProof="0" dirty="0"/>
              <a:t>) – nije konstantno upaljeno; nije aktualno</a:t>
            </a:r>
          </a:p>
          <a:p>
            <a:pPr marL="628650" lvl="1" algn="l">
              <a:buFont typeface="Courier New"/>
              <a:buChar char="o"/>
            </a:pPr>
            <a:r>
              <a:rPr lang="hr-HR" noProof="0" dirty="0"/>
              <a:t>mlako (</a:t>
            </a:r>
            <a:r>
              <a:rPr lang="hr-HR" i="1" noProof="0" dirty="0" err="1"/>
              <a:t>warm</a:t>
            </a:r>
            <a:r>
              <a:rPr lang="hr-HR" noProof="0" dirty="0"/>
              <a:t>) – nije konstantno aktivno; povremeno aktualizirano</a:t>
            </a:r>
          </a:p>
          <a:p>
            <a:pPr marL="628650" lvl="1" algn="l">
              <a:buFont typeface="Courier New"/>
              <a:buChar char="o"/>
            </a:pPr>
            <a:r>
              <a:rPr lang="hr-HR" noProof="0" dirty="0"/>
              <a:t>toplo (</a:t>
            </a:r>
            <a:r>
              <a:rPr lang="hr-HR" i="1" noProof="0" dirty="0" err="1"/>
              <a:t>hot</a:t>
            </a:r>
            <a:r>
              <a:rPr lang="hr-HR" noProof="0" dirty="0"/>
              <a:t>) – aktivno; konstantno aktualizirano</a:t>
            </a:r>
          </a:p>
          <a:p>
            <a:pPr marL="628650" lvl="1">
              <a:buFont typeface="Courier New"/>
              <a:buChar char="o"/>
            </a:pPr>
            <a:endParaRPr lang="hr-HR" noProof="0" dirty="0"/>
          </a:p>
        </p:txBody>
      </p:sp>
      <p:sp>
        <p:nvSpPr>
          <p:cNvPr id="1151" name="Google Shape;1151;p36">
            <a:extLst>
              <a:ext uri="{FF2B5EF4-FFF2-40B4-BE49-F238E27FC236}">
                <a16:creationId xmlns:a16="http://schemas.microsoft.com/office/drawing/2014/main" id="{FCDBBF69-9308-3061-5CB7-991C8669725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3975566" cy="6870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hr-HR" noProof="0" dirty="0"/>
              <a:t>3/3 - Oporavak od katastrofe</a:t>
            </a:r>
          </a:p>
        </p:txBody>
      </p:sp>
      <p:pic>
        <p:nvPicPr>
          <p:cNvPr id="3074" name="Picture 2" descr="Disaster Recovery for Solr – a Story from the Field – Distributed Algorithm">
            <a:extLst>
              <a:ext uri="{FF2B5EF4-FFF2-40B4-BE49-F238E27FC236}">
                <a16:creationId xmlns:a16="http://schemas.microsoft.com/office/drawing/2014/main" id="{91FB376B-E4C2-2C0A-3652-A2BCECF90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35" y="1615738"/>
            <a:ext cx="2549366" cy="191202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467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D8AA0D31-B0DA-CDB6-3E59-48CE30B6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>
            <a:extLst>
              <a:ext uri="{FF2B5EF4-FFF2-40B4-BE49-F238E27FC236}">
                <a16:creationId xmlns:a16="http://schemas.microsoft.com/office/drawing/2014/main" id="{25A69E90-024A-E806-CD2D-694ECFDBA9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1583" y="1164188"/>
            <a:ext cx="6916815" cy="7093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3000" noProof="0" dirty="0"/>
              <a:t>Plan strategije sigurnosne kopije</a:t>
            </a:r>
            <a:endParaRPr lang="hr-HR" noProof="0" dirty="0"/>
          </a:p>
        </p:txBody>
      </p:sp>
      <p:sp>
        <p:nvSpPr>
          <p:cNvPr id="1104" name="Google Shape;1104;p33">
            <a:extLst>
              <a:ext uri="{FF2B5EF4-FFF2-40B4-BE49-F238E27FC236}">
                <a16:creationId xmlns:a16="http://schemas.microsoft.com/office/drawing/2014/main" id="{5C25E913-37EE-AC53-C8B1-3E3C7B3C05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05601" y="1873586"/>
            <a:ext cx="6932797" cy="20709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b="1" noProof="0" dirty="0"/>
              <a:t>strategija:</a:t>
            </a:r>
            <a:r>
              <a:rPr lang="hr-HR" noProof="0" dirty="0"/>
              <a:t> GFS (puni + inkrementalni)</a:t>
            </a:r>
          </a:p>
          <a:p>
            <a:r>
              <a:rPr lang="hr-HR" b="1" noProof="0" dirty="0"/>
              <a:t>okruženje:</a:t>
            </a:r>
            <a:r>
              <a:rPr lang="hr-HR" noProof="0" dirty="0"/>
              <a:t> Virtualni sustav (VM) s klijentima i backup poslužiteljem</a:t>
            </a:r>
          </a:p>
          <a:p>
            <a:r>
              <a:rPr lang="hr-HR" b="1" noProof="0" dirty="0"/>
              <a:t>alati:</a:t>
            </a:r>
            <a:r>
              <a:rPr lang="hr-HR" noProof="0" dirty="0"/>
              <a:t> </a:t>
            </a:r>
          </a:p>
          <a:p>
            <a:pPr lvl="1" algn="l">
              <a:buClrTx/>
            </a:pPr>
            <a:r>
              <a:rPr lang="hr-HR" noProof="0" dirty="0" err="1"/>
              <a:t>Bacula</a:t>
            </a:r>
            <a:r>
              <a:rPr lang="hr-HR" noProof="0" dirty="0"/>
              <a:t> (upravljanjem backupom)</a:t>
            </a:r>
          </a:p>
          <a:p>
            <a:pPr lvl="1" algn="l">
              <a:buClrTx/>
            </a:pPr>
            <a:r>
              <a:rPr lang="hr-HR" noProof="0" dirty="0" err="1"/>
              <a:t>Duplicity</a:t>
            </a:r>
            <a:r>
              <a:rPr lang="hr-HR" noProof="0" dirty="0"/>
              <a:t> (izrada sigurnosnih kopija)</a:t>
            </a:r>
          </a:p>
          <a:p>
            <a:pPr lvl="1" algn="l">
              <a:buClrTx/>
            </a:pPr>
            <a:r>
              <a:rPr lang="hr-HR" noProof="0" dirty="0" err="1"/>
              <a:t>OpenSSL</a:t>
            </a:r>
            <a:r>
              <a:rPr lang="hr-HR" noProof="0" dirty="0"/>
              <a:t> (sigurna i šifriranu komunikaciju)</a:t>
            </a:r>
          </a:p>
          <a:p>
            <a:r>
              <a:rPr lang="hr-HR" b="1" noProof="0" dirty="0"/>
              <a:t>metrike:</a:t>
            </a:r>
            <a:r>
              <a:rPr lang="hr-HR" noProof="0" dirty="0"/>
              <a:t> RTO i RPO (vrijeme i količina gubitaka), RTA i RTO (stvarno izmjerene mjere)</a:t>
            </a:r>
          </a:p>
          <a:p>
            <a:r>
              <a:rPr lang="hr-HR" b="1" noProof="0" dirty="0"/>
              <a:t>testiranje:</a:t>
            </a:r>
            <a:r>
              <a:rPr lang="hr-HR" noProof="0" dirty="0"/>
              <a:t> brisanje datoteka, kvar sustava, </a:t>
            </a:r>
            <a:r>
              <a:rPr lang="hr-HR" noProof="0" dirty="0" err="1"/>
              <a:t>ransomware</a:t>
            </a:r>
            <a:endParaRPr lang="hr-HR" noProof="0" dirty="0"/>
          </a:p>
          <a:p>
            <a:r>
              <a:rPr lang="hr-HR" b="1" noProof="0" dirty="0"/>
              <a:t>provjera:</a:t>
            </a:r>
            <a:r>
              <a:rPr lang="hr-HR" noProof="0" dirty="0"/>
              <a:t> provjera integriteta pomoću </a:t>
            </a:r>
            <a:r>
              <a:rPr lang="hr-HR" noProof="0" dirty="0" err="1"/>
              <a:t>hash</a:t>
            </a:r>
            <a:r>
              <a:rPr lang="hr-HR" noProof="0" dirty="0"/>
              <a:t> funkcije</a:t>
            </a:r>
          </a:p>
        </p:txBody>
      </p:sp>
    </p:spTree>
    <p:extLst>
      <p:ext uri="{BB962C8B-B14F-4D97-AF65-F5344CB8AC3E}">
        <p14:creationId xmlns:p14="http://schemas.microsoft.com/office/powerpoint/2010/main" val="915536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17F4-93CC-0344-CF99-F5C17ADD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117" y="1533314"/>
            <a:ext cx="5116200" cy="1390500"/>
          </a:xfrm>
        </p:spPr>
        <p:txBody>
          <a:bodyPr/>
          <a:lstStyle/>
          <a:p>
            <a:r>
              <a:rPr lang="hr-HR" noProof="0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933790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698</Words>
  <Application>Microsoft Office PowerPoint</Application>
  <PresentationFormat>Prikaz na zaslonu (16:9)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Korišteni fontovi</vt:lpstr>
      </vt:variant>
      <vt:variant>
        <vt:i4>10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13</vt:i4>
      </vt:variant>
    </vt:vector>
  </HeadingPairs>
  <TitlesOfParts>
    <vt:vector size="24" baseType="lpstr">
      <vt:lpstr>Nunito Light</vt:lpstr>
      <vt:lpstr>PT Sans</vt:lpstr>
      <vt:lpstr>Calibri</vt:lpstr>
      <vt:lpstr>Arial</vt:lpstr>
      <vt:lpstr>Epilogue</vt:lpstr>
      <vt:lpstr>Open Sans</vt:lpstr>
      <vt:lpstr>Roboto</vt:lpstr>
      <vt:lpstr>Lato</vt:lpstr>
      <vt:lpstr>Courier New</vt:lpstr>
      <vt:lpstr>Raleway</vt:lpstr>
      <vt:lpstr>Multimedia Software Pitch Deck by Slidesgo</vt:lpstr>
      <vt:lpstr>Implementacija, testiranje i procjena otporne backup strategije</vt:lpstr>
      <vt:lpstr>SADRŽAJ</vt:lpstr>
      <vt:lpstr>Backup</vt:lpstr>
      <vt:lpstr>Vrste backupa</vt:lpstr>
      <vt:lpstr>Backup strategije</vt:lpstr>
      <vt:lpstr>Backup strategije</vt:lpstr>
      <vt:lpstr>Backup baza podataka</vt:lpstr>
      <vt:lpstr>Oporavak podataka </vt:lpstr>
      <vt:lpstr>Vrste oporavka</vt:lpstr>
      <vt:lpstr>Vrste oporavka</vt:lpstr>
      <vt:lpstr>Vrste oporavka</vt:lpstr>
      <vt:lpstr>Plan strategije sigurnosne kopije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Ivana Hranj</dc:creator>
  <cp:lastModifiedBy>Ivana Hranj</cp:lastModifiedBy>
  <cp:revision>80</cp:revision>
  <dcterms:modified xsi:type="dcterms:W3CDTF">2025-10-27T16:07:12Z</dcterms:modified>
</cp:coreProperties>
</file>