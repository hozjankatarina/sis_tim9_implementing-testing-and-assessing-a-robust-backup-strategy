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4"/>
  </p:sldMasterIdLst>
  <p:notesMasterIdLst>
    <p:notesMasterId r:id="rId14"/>
  </p:notesMasterIdLst>
  <p:sldIdLst>
    <p:sldId id="256" r:id="rId5"/>
    <p:sldId id="261" r:id="rId6"/>
    <p:sldId id="259" r:id="rId7"/>
    <p:sldId id="297" r:id="rId8"/>
    <p:sldId id="263" r:id="rId9"/>
    <p:sldId id="302" r:id="rId10"/>
    <p:sldId id="304" r:id="rId11"/>
    <p:sldId id="305" r:id="rId12"/>
    <p:sldId id="303" r:id="rId13"/>
  </p:sldIdLst>
  <p:sldSz cx="9144000" cy="5143500" type="screen16x9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Nunito Light" pitchFamily="2" charset="0"/>
      <p:regular r:id="rId19"/>
      <p: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PT Sans" panose="020B0503020203020204" pitchFamily="34" charset="0"/>
      <p:regular r:id="rId25"/>
      <p:bold r:id="rId26"/>
      <p:italic r:id="rId27"/>
      <p:boldItalic r:id="rId28"/>
    </p:embeddedFont>
    <p:embeddedFont>
      <p:font typeface="Raleway" pitchFamily="2" charset="0"/>
      <p:regular r:id="rId29"/>
      <p:bold r:id="rId30"/>
      <p:italic r:id="rId31"/>
      <p:boldItalic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7851E3-8AF3-4830-B305-C1BB0B90FDFC}">
  <a:tblStyle styleId="{CC7851E3-8AF3-4830-B305-C1BB0B90FD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6CC32B0-8FFA-4F8A-AADA-E49C4AFF6B3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745" autoAdjust="0"/>
  </p:normalViewPr>
  <p:slideViewPr>
    <p:cSldViewPr snapToGrid="0">
      <p:cViewPr varScale="1">
        <p:scale>
          <a:sx n="90" d="100"/>
          <a:sy n="90" d="100"/>
        </p:scale>
        <p:origin x="1234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theme" Target="theme/theme1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Kopiranje obuhvaća samo ključne podatke, a ne kopiju cijelog sustava.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 ovu skupinu ubrajaju se dokumenti i datoteke koje se svakodnevno koriste i često mijenjaju, poput tekstualnih dokumenata, izvještaja i ostalih poslovnih materijala pohranjenih u zajedničkim direktorijima. 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>
          <a:extLst>
            <a:ext uri="{FF2B5EF4-FFF2-40B4-BE49-F238E27FC236}">
              <a16:creationId xmlns:a16="http://schemas.microsoft.com/office/drawing/2014/main" id="{252C5F1B-2C61-0071-DB31-D05D5360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>
            <a:extLst>
              <a:ext uri="{FF2B5EF4-FFF2-40B4-BE49-F238E27FC236}">
                <a16:creationId xmlns:a16="http://schemas.microsoft.com/office/drawing/2014/main" id="{B74FFF32-3D39-4212-6B04-C731C61B5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>
            <a:extLst>
              <a:ext uri="{FF2B5EF4-FFF2-40B4-BE49-F238E27FC236}">
                <a16:creationId xmlns:a16="http://schemas.microsoft.com/office/drawing/2014/main" id="{74BFCFDA-3F9B-769F-4955-E2E7667517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394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>
          <a:extLst>
            <a:ext uri="{FF2B5EF4-FFF2-40B4-BE49-F238E27FC236}">
              <a16:creationId xmlns:a16="http://schemas.microsoft.com/office/drawing/2014/main" id="{E9FB1B7C-2DB8-DE88-5838-FD97AE9D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>
            <a:extLst>
              <a:ext uri="{FF2B5EF4-FFF2-40B4-BE49-F238E27FC236}">
                <a16:creationId xmlns:a16="http://schemas.microsoft.com/office/drawing/2014/main" id="{1E97F03C-C238-7E8C-728E-6021B331B6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>
            <a:extLst>
              <a:ext uri="{FF2B5EF4-FFF2-40B4-BE49-F238E27FC236}">
                <a16:creationId xmlns:a16="http://schemas.microsoft.com/office/drawing/2014/main" id="{12227A5D-5BA6-2EB8-431C-831ED6963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Ova vrijednost proizlazi iz činjenice da se sigurnosne kopije podataka izrađuju svakodnevno u obliku inkrementalnih kopija. Time je u slučaju incidenta gubitak podataka ograničen na maksimalno jedan dan rada, što se smatra prihvatljivim za promatrani sustav.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Ova vrijednost predstavlja maksimalno prihvatljivo vrijeme potrebno za povrat podataka i ponovno uspostavljanje funkcionalnosti sustava nakon incidenta. U definirani RTO uključeni su postupci odabira odgovarajuće sigurnosne kopije, povrata podataka te provjere ispravnosti sustava nakon oporavka.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5223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48462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7" name="Google Shape;17;p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/>
          <p:nvPr/>
        </p:nvSpPr>
        <p:spPr>
          <a:xfrm rot="-4014673" flipH="1">
            <a:off x="-1798429" y="-1029372"/>
            <a:ext cx="3158476" cy="250963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355841" y="2667287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4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26" name="Google Shape;26;p4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" name="Google Shape;27;p4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8" name="Google Shape;28;p4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4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4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" name="Google Shape;31;p4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32" name="Google Shape;32;p4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" name="Google Shape;33;p4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" name="Google Shape;34;p4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" name="Google Shape;35;p4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6" name="Google Shape;36;p4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7" name="Google Shape;37;p4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" name="Google Shape;38;p4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" name="Google Shape;39;p4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0" name="Google Shape;40;p4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" name="Google Shape;41;p4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" name="Google Shape;42;p4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3" name="Google Shape;43;p4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" name="Google Shape;44;p4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" name="Google Shape;45;p4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" name="Google Shape;47;p4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" name="Google Shape;48;p4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" name="Google Shape;50;p4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1" name="Google Shape;51;p4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52" name="Google Shape;52;p4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" name="Google Shape;53;p4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4" name="Google Shape;54;p4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55" name="Google Shape;55;p4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" name="Google Shape;57;p4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58" name="Google Shape;58;p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" name="Google Shape;60;p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61" name="Google Shape;61;p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62;p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63;p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" name="Google Shape;65;p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66;p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" name="Google Shape;67;p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8" name="Google Shape;68;p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69;p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70;p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71;p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" name="Google Shape;72;p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5" name="Google Shape;75;p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76" name="Google Shape;76;p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;p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78;p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" name="Google Shape;82;p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83" name="Google Shape;83;p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" name="Google Shape;87;p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4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89" name="Google Shape;89;p4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4"/>
          <p:cNvSpPr/>
          <p:nvPr/>
        </p:nvSpPr>
        <p:spPr>
          <a:xfrm rot="8662747" flipH="1">
            <a:off x="7370974" y="4168319"/>
            <a:ext cx="2746019" cy="192168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4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94" name="Google Shape;94;p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95" name="Google Shape;95;p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6" name="Google Shape;96;p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97" name="Google Shape;97;p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" name="Google Shape;100;p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01" name="Google Shape;101;p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" name="Google Shape;102;p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03" name="Google Shape;103;p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04" name="Google Shape;104;p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" name="Google Shape;105;p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" name="Google Shape;109;p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1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2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3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4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avLst/>
              <a:gdLst/>
              <a:ahLst/>
              <a:cxnLst/>
              <a:rect l="l" t="t" r="r" b="b"/>
              <a:pathLst>
                <a:path w="1633727" h="230504" extrusionOk="0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avLst/>
              <a:gdLst/>
              <a:ahLst/>
              <a:cxnLst/>
              <a:rect l="l" t="t" r="r" b="b"/>
              <a:pathLst>
                <a:path w="166485" h="165854" extrusionOk="0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avLst/>
              <a:gdLst/>
              <a:ahLst/>
              <a:cxnLst/>
              <a:rect l="l" t="t" r="r" b="b"/>
              <a:pathLst>
                <a:path w="7620" h="174307" extrusionOk="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rot="532502" flipH="1">
            <a:off x="-514115" y="4385276"/>
            <a:ext cx="1514959" cy="122499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1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4" name="Google Shape;164;p11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hr-HR"/>
          </a:p>
        </p:txBody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6"/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6"/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6"/>
          <p:cNvSpPr txBox="1">
            <a:spLocks noGrp="1"/>
          </p:cNvSpPr>
          <p:nvPr>
            <p:ph type="subTitle" idx="3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6"/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1" name="Google Shape;401;p16"/>
          <p:cNvSpPr txBox="1">
            <a:spLocks noGrp="1"/>
          </p:cNvSpPr>
          <p:nvPr>
            <p:ph type="subTitle" idx="5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6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3" name="Google Shape;403;p16"/>
          <p:cNvSpPr/>
          <p:nvPr/>
        </p:nvSpPr>
        <p:spPr>
          <a:xfrm rot="8800738" flipH="1">
            <a:off x="7902412" y="4181666"/>
            <a:ext cx="1680262" cy="1358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6"/>
          <p:cNvSpPr/>
          <p:nvPr/>
        </p:nvSpPr>
        <p:spPr>
          <a:xfrm rot="-8942362" flipH="1">
            <a:off x="-983149" y="4040244"/>
            <a:ext cx="2474148" cy="2000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"/>
          <p:cNvSpPr/>
          <p:nvPr/>
        </p:nvSpPr>
        <p:spPr>
          <a:xfrm rot="1554271" flipH="1">
            <a:off x="7563507" y="-664049"/>
            <a:ext cx="2112334" cy="200257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8"/>
          <p:cNvSpPr txBox="1">
            <a:spLocks noGrp="1"/>
          </p:cNvSpPr>
          <p:nvPr>
            <p:ph type="subTitle" idx="1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8"/>
          <p:cNvSpPr txBox="1">
            <a:spLocks noGrp="1"/>
          </p:cNvSpPr>
          <p:nvPr>
            <p:ph type="subTitle" idx="2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18"/>
          <p:cNvSpPr txBox="1">
            <a:spLocks noGrp="1"/>
          </p:cNvSpPr>
          <p:nvPr>
            <p:ph type="subTitle" idx="3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18"/>
          <p:cNvSpPr txBox="1">
            <a:spLocks noGrp="1"/>
          </p:cNvSpPr>
          <p:nvPr>
            <p:ph type="subTitle" idx="4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8"/>
          <p:cNvSpPr txBox="1">
            <a:spLocks noGrp="1"/>
          </p:cNvSpPr>
          <p:nvPr>
            <p:ph type="subTitle" idx="5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18"/>
          <p:cNvSpPr txBox="1">
            <a:spLocks noGrp="1"/>
          </p:cNvSpPr>
          <p:nvPr>
            <p:ph type="subTitle" idx="6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18"/>
          <p:cNvSpPr txBox="1">
            <a:spLocks noGrp="1"/>
          </p:cNvSpPr>
          <p:nvPr>
            <p:ph type="subTitle" idx="7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5" name="Google Shape;545;p18"/>
          <p:cNvSpPr txBox="1">
            <a:spLocks noGrp="1"/>
          </p:cNvSpPr>
          <p:nvPr>
            <p:ph type="subTitle" idx="8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6" name="Google Shape;546;p18"/>
          <p:cNvSpPr txBox="1">
            <a:spLocks noGrp="1"/>
          </p:cNvSpPr>
          <p:nvPr>
            <p:ph type="subTitle" idx="9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7" name="Google Shape;547;p18"/>
          <p:cNvSpPr txBox="1">
            <a:spLocks noGrp="1"/>
          </p:cNvSpPr>
          <p:nvPr>
            <p:ph type="subTitle" idx="13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8" name="Google Shape;548;p18"/>
          <p:cNvSpPr txBox="1">
            <a:spLocks noGrp="1"/>
          </p:cNvSpPr>
          <p:nvPr>
            <p:ph type="subTitle" idx="14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9" name="Google Shape;549;p18"/>
          <p:cNvSpPr txBox="1">
            <a:spLocks noGrp="1"/>
          </p:cNvSpPr>
          <p:nvPr>
            <p:ph type="subTitle" idx="15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0" name="Google Shape;550;p18"/>
          <p:cNvSpPr/>
          <p:nvPr/>
        </p:nvSpPr>
        <p:spPr>
          <a:xfrm rot="-3263452" flipH="1">
            <a:off x="7372110" y="40383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8"/>
          <p:cNvSpPr/>
          <p:nvPr/>
        </p:nvSpPr>
        <p:spPr>
          <a:xfrm rot="531647" flipH="1">
            <a:off x="-1621232" y="4095570"/>
            <a:ext cx="2581069" cy="208704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8"/>
          <p:cNvSpPr/>
          <p:nvPr/>
        </p:nvSpPr>
        <p:spPr>
          <a:xfrm rot="460658" flipH="1">
            <a:off x="7344116" y="-1448948"/>
            <a:ext cx="3053845" cy="246933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3" name="Google Shape;553;p18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554" name="Google Shape;554;p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7" name="Google Shape;557;p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558" name="Google Shape;558;p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2" name="Google Shape;562;p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563" name="Google Shape;563;p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564" name="Google Shape;564;p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6" name="Google Shape;566;p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567" name="Google Shape;567;p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" name="Google Shape;568;p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9" name="Google Shape;569;p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1" name="Google Shape;571;p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573" name="Google Shape;573;p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574" name="Google Shape;574;p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6" name="Google Shape;576;p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>
            <a:spLocks noGrp="1"/>
          </p:cNvSpPr>
          <p:nvPr>
            <p:ph type="title" hasCustomPrompt="1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>
            <a:spLocks noGrp="1"/>
          </p:cNvSpPr>
          <p:nvPr>
            <p:ph type="subTitle" idx="1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0" name="Google Shape;580;p19"/>
          <p:cNvSpPr txBox="1">
            <a:spLocks noGrp="1"/>
          </p:cNvSpPr>
          <p:nvPr>
            <p:ph type="title" idx="2" hasCustomPrompt="1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>
            <a:spLocks noGrp="1"/>
          </p:cNvSpPr>
          <p:nvPr>
            <p:ph type="subTitle" idx="3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2" name="Google Shape;582;p19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>
            <a:spLocks noGrp="1"/>
          </p:cNvSpPr>
          <p:nvPr>
            <p:ph type="subTitle" idx="5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4" name="Google Shape;584;p19"/>
          <p:cNvSpPr/>
          <p:nvPr/>
        </p:nvSpPr>
        <p:spPr>
          <a:xfrm rot="-5710536">
            <a:off x="-1869285" y="3438573"/>
            <a:ext cx="3168438" cy="23079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9"/>
          <p:cNvSpPr/>
          <p:nvPr/>
        </p:nvSpPr>
        <p:spPr>
          <a:xfrm rot="-294905">
            <a:off x="7350387" y="3903245"/>
            <a:ext cx="3168449" cy="256199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20"/>
          <p:cNvSpPr/>
          <p:nvPr/>
        </p:nvSpPr>
        <p:spPr>
          <a:xfrm rot="337739" flipH="1">
            <a:off x="8212271" y="3187242"/>
            <a:ext cx="3158465" cy="3518480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9" name="Google Shape;589;p20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590" name="Google Shape;590;p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1" name="Google Shape;591;p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2" name="Google Shape;592;p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593" name="Google Shape;593;p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9" name="Google Shape;599;p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00" name="Google Shape;600;p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5" name="Google Shape;605;p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606" name="Google Shape;606;p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" name="Google Shape;607;p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608" name="Google Shape;608;p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4" name="Google Shape;614;p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615" name="Google Shape;615;p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9" name="Google Shape;619;p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0" name="Google Shape;620;p20"/>
          <p:cNvSpPr/>
          <p:nvPr/>
        </p:nvSpPr>
        <p:spPr>
          <a:xfrm rot="-3657034" flipH="1">
            <a:off x="-1404232" y="-737971"/>
            <a:ext cx="2746020" cy="16278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1" name="Google Shape;621;p20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22" name="Google Shape;622;p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23" name="Google Shape;623;p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4" name="Google Shape;624;p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25" name="Google Shape;625;p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8" name="Google Shape;628;p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29" name="Google Shape;629;p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0" name="Google Shape;630;p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31" name="Google Shape;631;p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32" name="Google Shape;632;p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4" name="Google Shape;634;p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35" name="Google Shape;635;p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7" name="Google Shape;637;p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38" name="Google Shape;638;p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1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43" name="Google Shape;643;p21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644" name="Google Shape;644;p21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5" name="Google Shape;645;p21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646" name="Google Shape;646;p21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9" name="Google Shape;649;p21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650" name="Google Shape;650;p21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2" name="Google Shape;652;p21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653" name="Google Shape;653;p21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654" name="Google Shape;654;p21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6" name="Google Shape;656;p21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21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658" name="Google Shape;658;p21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9" name="Google Shape;659;p21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660" name="Google Shape;660;p21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661" name="Google Shape;661;p21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662" name="Google Shape;662;p21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21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4" name="Google Shape;664;p21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665" name="Google Shape;665;p21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1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7" name="Google Shape;667;p21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668" name="Google Shape;668;p21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1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0" name="Google Shape;670;p21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3" name="Google Shape;673;p21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674" name="Google Shape;674;p21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7" name="Google Shape;677;p21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1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2"/>
          <p:cNvSpPr txBox="1">
            <a:spLocks noGrp="1"/>
          </p:cNvSpPr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1" name="Google Shape;681;p22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2" name="Google Shape;682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lang="en" sz="12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2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22"/>
          <p:cNvSpPr/>
          <p:nvPr/>
        </p:nvSpPr>
        <p:spPr>
          <a:xfrm rot="-2493044" flipH="1">
            <a:off x="-1086706" y="-570280"/>
            <a:ext cx="2902912" cy="234728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2"/>
          <p:cNvSpPr/>
          <p:nvPr/>
        </p:nvSpPr>
        <p:spPr>
          <a:xfrm rot="-5051288" flipH="1">
            <a:off x="7227752" y="3451481"/>
            <a:ext cx="2997828" cy="2576307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2"/>
          <p:cNvSpPr/>
          <p:nvPr/>
        </p:nvSpPr>
        <p:spPr>
          <a:xfrm rot="460638" flipH="1">
            <a:off x="178423" y="3742788"/>
            <a:ext cx="1359611" cy="122255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2"/>
          <p:cNvSpPr/>
          <p:nvPr/>
        </p:nvSpPr>
        <p:spPr>
          <a:xfrm rot="460623" flipH="1">
            <a:off x="6683138" y="-2074210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  <p:sldLayoutId id="2147483662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4909608" y="421118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noProof="0" dirty="0"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200" noProof="0" dirty="0"/>
              <a:t>Implementacija, testiranje i procjena otporne backup strategije</a:t>
            </a:r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1"/>
          </p:nvPr>
        </p:nvSpPr>
        <p:spPr>
          <a:xfrm>
            <a:off x="256764" y="3708417"/>
            <a:ext cx="4938228" cy="6804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hr-HR" sz="1100" b="1" noProof="0" dirty="0"/>
              <a:t>Izradili: </a:t>
            </a:r>
            <a:r>
              <a:rPr lang="hr-HR" sz="1100" noProof="0" dirty="0"/>
              <a:t>Lovro </a:t>
            </a:r>
            <a:r>
              <a:rPr lang="hr-HR" sz="1100" noProof="0" dirty="0" err="1"/>
              <a:t>Balent</a:t>
            </a:r>
            <a:r>
              <a:rPr lang="hr-HR" sz="1100" noProof="0" dirty="0"/>
              <a:t>, Vedran Bogdanović, Katarina </a:t>
            </a:r>
            <a:r>
              <a:rPr lang="hr-HR" sz="1100" noProof="0" dirty="0" err="1"/>
              <a:t>Hozjan</a:t>
            </a:r>
            <a:r>
              <a:rPr lang="hr-HR" sz="1100" noProof="0" dirty="0"/>
              <a:t>, Ivana </a:t>
            </a:r>
            <a:r>
              <a:rPr lang="hr-HR" sz="1100" noProof="0" dirty="0" err="1"/>
              <a:t>Hranj</a:t>
            </a:r>
            <a:endParaRPr lang="hr-HR" sz="1100" noProof="0" dirty="0"/>
          </a:p>
          <a:p>
            <a:pPr marL="0" indent="0">
              <a:lnSpc>
                <a:spcPct val="150000"/>
              </a:lnSpc>
            </a:pPr>
            <a:r>
              <a:rPr lang="hr-HR" sz="1100" b="1" noProof="0" dirty="0"/>
              <a:t>Mentori: </a:t>
            </a:r>
            <a:r>
              <a:rPr lang="hr-HR" sz="1100" noProof="0" dirty="0">
                <a:latin typeface="Roboto"/>
                <a:ea typeface="Roboto"/>
                <a:cs typeface="Roboto"/>
              </a:rPr>
              <a:t>Izv. prof. dr. sc. Petra Grd i Izv. prof. dr. sc. Igor Tomičić</a:t>
            </a:r>
            <a:endParaRPr lang="hr-HR" sz="1100" noProof="0" dirty="0"/>
          </a:p>
        </p:txBody>
      </p:sp>
      <p:grpSp>
        <p:nvGrpSpPr>
          <p:cNvPr id="757" name="Google Shape;757;p28"/>
          <p:cNvGrpSpPr/>
          <p:nvPr/>
        </p:nvGrpSpPr>
        <p:grpSpPr>
          <a:xfrm>
            <a:off x="5165167" y="656304"/>
            <a:ext cx="3841017" cy="3831227"/>
            <a:chOff x="5165167" y="656304"/>
            <a:chExt cx="3841017" cy="3831227"/>
          </a:xfrm>
        </p:grpSpPr>
        <p:grpSp>
          <p:nvGrpSpPr>
            <p:cNvPr id="758" name="Google Shape;758;p28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9" name="Google Shape;759;p28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60" name="Google Shape;760;p28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4" name="Google Shape;764;p28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8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8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28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8" name="Google Shape;768;p28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28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71" name="Google Shape;771;p28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28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r-HR" sz="1800" noProof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4" name="Google Shape;774;p28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75" name="Google Shape;775;p28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28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9" name="Google Shape;779;p28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28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83" name="Google Shape;783;p28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28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6" name="Google Shape;786;p28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8" name="Google Shape;788;p28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9" name="Google Shape;789;p28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8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95" name="Google Shape;795;p28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28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801" name="Google Shape;801;p28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8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8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8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8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8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28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8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28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25" name="Google Shape;825;p28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8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8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8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8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8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8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8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8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8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7" name="Google Shape;837;p28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8"/>
            <p:cNvGrpSpPr/>
            <p:nvPr/>
          </p:nvGrpSpPr>
          <p:grpSpPr>
            <a:xfrm>
              <a:off x="6367914" y="2012818"/>
              <a:ext cx="1448168" cy="1250722"/>
              <a:chOff x="6497466" y="2113795"/>
              <a:chExt cx="1186439" cy="1024678"/>
            </a:xfrm>
          </p:grpSpPr>
          <p:sp>
            <p:nvSpPr>
              <p:cNvPr id="839" name="Google Shape;839;p28"/>
              <p:cNvSpPr/>
              <p:nvPr/>
            </p:nvSpPr>
            <p:spPr>
              <a:xfrm>
                <a:off x="6497466" y="2113795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42" name="Google Shape;842;p28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8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8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5" name="Google Shape;845;p28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1" name="Google Shape;851;p28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52" name="Google Shape;852;p28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8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4" name="Google Shape;854;p28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55" name="Google Shape;855;p28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8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28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8" name="Google Shape;858;p28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8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8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8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8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3" name="Google Shape;863;p28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8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65" name="Google Shape;865;p28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6" name="Google Shape;866;p28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8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8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8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0" name="Google Shape;870;p28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71" name="Google Shape;871;p28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72" name="Google Shape;872;p28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28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8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" name="Google Shape;875;p28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6" name="Google Shape;876;p28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7" name="Google Shape;877;p28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8" name="Google Shape;878;p28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9" name="Google Shape;879;p28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" name="Google Shape;880;p28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1" name="Google Shape;881;p28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82" name="Google Shape;882;p28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83" name="Google Shape;883;p28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84" name="Google Shape;884;p28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885;p28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6" name="Google Shape;886;p28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887;p28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8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9" name="Google Shape;889;p28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90" name="Google Shape;890;p28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8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8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93" name="Google Shape;893;p28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8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7" name="Google Shape;897;p28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8" name="Google Shape;898;p28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9" name="Google Shape;899;p28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900" name="Google Shape;900;p28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" name="Google Shape;901;p28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3" name="Google Shape;903;p28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904" name="Google Shape;904;p28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8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8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7" name="Google Shape;907;p28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8" name="Google Shape;908;p28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9" name="Google Shape;909;p28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8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" name="Google Shape;911;p28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2" name="Google Shape;912;p28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13" name="Google Shape;913;p28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14" name="Google Shape;914;p28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15" name="Google Shape;915;p28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hr-HR" sz="1800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28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hr-HR" sz="1800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7" name="Google Shape;917;p28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8" name="Google Shape;918;p28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hr-HR" sz="1800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9" name="Google Shape;919;p28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hr-HR" sz="1800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20" name="Google Shape;920;p28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21" name="Google Shape;921;p28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8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8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8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8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6" name="Google Shape;926;p28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7" name="Google Shape;927;p28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8" name="Google Shape;928;p28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28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28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28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hr-HR" sz="1800" noProof="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28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33" name="Google Shape;933;p28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8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35" name="Google Shape;935;p28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Google Shape;756;p28">
            <a:extLst>
              <a:ext uri="{FF2B5EF4-FFF2-40B4-BE49-F238E27FC236}">
                <a16:creationId xmlns:a16="http://schemas.microsoft.com/office/drawing/2014/main" id="{4B1AC924-4DD2-25D4-EF53-5C0A3673BB41}"/>
              </a:ext>
            </a:extLst>
          </p:cNvPr>
          <p:cNvSpPr txBox="1">
            <a:spLocks/>
          </p:cNvSpPr>
          <p:nvPr/>
        </p:nvSpPr>
        <p:spPr>
          <a:xfrm>
            <a:off x="713225" y="734631"/>
            <a:ext cx="41121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hr-HR" noProof="0" dirty="0"/>
              <a:t>Sigurnost informacijskih sustava</a:t>
            </a:r>
          </a:p>
        </p:txBody>
      </p:sp>
      <p:pic>
        <p:nvPicPr>
          <p:cNvPr id="1026" name="Picture 2" descr="Dobro došli na FOI | FOI">
            <a:extLst>
              <a:ext uri="{FF2B5EF4-FFF2-40B4-BE49-F238E27FC236}">
                <a16:creationId xmlns:a16="http://schemas.microsoft.com/office/drawing/2014/main" id="{E990EC90-35D9-961D-C354-E65FB8258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50" y="4487531"/>
            <a:ext cx="2455425" cy="43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/>
          <p:cNvSpPr txBox="1">
            <a:spLocks noGrp="1"/>
          </p:cNvSpPr>
          <p:nvPr>
            <p:ph type="title"/>
          </p:nvPr>
        </p:nvSpPr>
        <p:spPr>
          <a:xfrm>
            <a:off x="1023827" y="73105"/>
            <a:ext cx="7205773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noProof="0" dirty="0"/>
              <a:t>Testno okruženje i korišteni alati</a:t>
            </a:r>
          </a:p>
        </p:txBody>
      </p:sp>
      <p:sp>
        <p:nvSpPr>
          <p:cNvPr id="1104" name="Google Shape;1104;p33"/>
          <p:cNvSpPr txBox="1">
            <a:spLocks noGrp="1"/>
          </p:cNvSpPr>
          <p:nvPr>
            <p:ph type="subTitle" idx="1"/>
          </p:nvPr>
        </p:nvSpPr>
        <p:spPr>
          <a:xfrm>
            <a:off x="1105601" y="1761553"/>
            <a:ext cx="6932797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hr-HR" b="1" noProof="0" dirty="0"/>
              <a:t>Dva VM okruženja </a:t>
            </a:r>
            <a:endParaRPr lang="en-US" b="1" dirty="0"/>
          </a:p>
          <a:p>
            <a:pPr lvl="1" algn="l">
              <a:lnSpc>
                <a:spcPct val="150000"/>
              </a:lnSpc>
              <a:buClrTx/>
            </a:pPr>
            <a:r>
              <a:rPr lang="hr-HR" dirty="0"/>
              <a:t>klijent, backup poslužitelj</a:t>
            </a:r>
          </a:p>
          <a:p>
            <a:pPr lvl="1" algn="l">
              <a:lnSpc>
                <a:spcPct val="150000"/>
              </a:lnSpc>
              <a:buClrTx/>
            </a:pPr>
            <a:r>
              <a:rPr lang="hr-HR" dirty="0"/>
              <a:t>komunikacija putem </a:t>
            </a:r>
            <a:r>
              <a:rPr lang="hr-HR" dirty="0" err="1"/>
              <a:t>OpenSSL</a:t>
            </a:r>
            <a:r>
              <a:rPr lang="hr-HR" dirty="0"/>
              <a:t>-a </a:t>
            </a:r>
          </a:p>
          <a:p>
            <a:pPr lvl="1" algn="l">
              <a:lnSpc>
                <a:spcPct val="150000"/>
              </a:lnSpc>
              <a:buClrTx/>
            </a:pPr>
            <a:endParaRPr lang="hr-HR" noProof="0" dirty="0"/>
          </a:p>
          <a:p>
            <a:pPr>
              <a:lnSpc>
                <a:spcPct val="150000"/>
              </a:lnSpc>
            </a:pPr>
            <a:r>
              <a:rPr lang="hr-HR" b="1" dirty="0"/>
              <a:t>Implementacija backup poslužitelja</a:t>
            </a:r>
            <a:endParaRPr lang="en-US" b="1" dirty="0"/>
          </a:p>
          <a:p>
            <a:pPr lvl="1" algn="l">
              <a:lnSpc>
                <a:spcPct val="150000"/>
              </a:lnSpc>
              <a:buClrTx/>
            </a:pPr>
            <a:r>
              <a:rPr lang="hr-HR" dirty="0" err="1"/>
              <a:t>Bacula</a:t>
            </a:r>
            <a:endParaRPr lang="hr-HR" dirty="0"/>
          </a:p>
          <a:p>
            <a:pPr lvl="1" algn="l">
              <a:lnSpc>
                <a:spcPct val="150000"/>
              </a:lnSpc>
              <a:buClrTx/>
            </a:pPr>
            <a:endParaRPr lang="hr-HR" noProof="0" dirty="0"/>
          </a:p>
          <a:p>
            <a:pPr>
              <a:lnSpc>
                <a:spcPct val="150000"/>
              </a:lnSpc>
            </a:pPr>
            <a:r>
              <a:rPr lang="hr-HR" b="1" dirty="0"/>
              <a:t>Izrada inkrementalnih i punih sigurnosnih kopija</a:t>
            </a:r>
            <a:endParaRPr lang="en-US" b="1" dirty="0"/>
          </a:p>
          <a:p>
            <a:pPr lvl="1" algn="l">
              <a:lnSpc>
                <a:spcPct val="150000"/>
              </a:lnSpc>
              <a:buClrTx/>
            </a:pPr>
            <a:r>
              <a:rPr lang="hr-HR" dirty="0" err="1"/>
              <a:t>Duplicity</a:t>
            </a:r>
            <a:endParaRPr lang="hr-HR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r-HR" noProof="0" dirty="0"/>
          </a:p>
        </p:txBody>
      </p:sp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649258" y="359600"/>
            <a:ext cx="4877639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Strategija sigurnosnih kopija</a:t>
            </a:r>
            <a:endParaRPr lang="hr-HR" noProof="0" dirty="0"/>
          </a:p>
        </p:txBody>
      </p:sp>
      <p:sp>
        <p:nvSpPr>
          <p:cNvPr id="968" name="Google Shape;968;p31"/>
          <p:cNvSpPr txBox="1">
            <a:spLocks noGrp="1"/>
          </p:cNvSpPr>
          <p:nvPr>
            <p:ph type="subTitle" idx="1"/>
          </p:nvPr>
        </p:nvSpPr>
        <p:spPr>
          <a:xfrm>
            <a:off x="762093" y="1666493"/>
            <a:ext cx="4651968" cy="23546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hr-HR" b="1" dirty="0" err="1"/>
              <a:t>Grandfather</a:t>
            </a:r>
            <a:r>
              <a:rPr lang="hr-HR" b="1" dirty="0"/>
              <a:t>–</a:t>
            </a:r>
            <a:r>
              <a:rPr lang="hr-HR" b="1" dirty="0" err="1"/>
              <a:t>Father</a:t>
            </a:r>
            <a:r>
              <a:rPr lang="hr-HR" b="1" dirty="0"/>
              <a:t>–</a:t>
            </a:r>
            <a:r>
              <a:rPr lang="hr-HR" b="1" dirty="0" err="1"/>
              <a:t>Son</a:t>
            </a:r>
            <a:r>
              <a:rPr lang="hr-HR" b="1" dirty="0"/>
              <a:t> (GFS)</a:t>
            </a:r>
          </a:p>
          <a:p>
            <a:pPr marL="0" lvl="0" indent="0">
              <a:buNone/>
            </a:pPr>
            <a:endParaRPr lang="hr-HR" b="1" dirty="0"/>
          </a:p>
          <a:p>
            <a:pPr lvl="0">
              <a:buFont typeface="Courier New" panose="02070309020205020404" pitchFamily="49" charset="0"/>
              <a:buChar char="o"/>
            </a:pPr>
            <a:r>
              <a:rPr lang="hr-HR" dirty="0"/>
              <a:t>kombinira inkrementalne i pune sigurnosne kopije</a:t>
            </a:r>
          </a:p>
          <a:p>
            <a:pPr lvl="0">
              <a:buFont typeface="Courier New" panose="02070309020205020404" pitchFamily="49" charset="0"/>
              <a:buChar char="o"/>
            </a:pPr>
            <a:r>
              <a:rPr lang="hr-HR" dirty="0"/>
              <a:t>dobar omjer učestalosti sigurnosnog kopiranja, vremena oporavka i zauzeća prostora za pohranu</a:t>
            </a:r>
          </a:p>
          <a:p>
            <a:pPr marL="152400" lvl="0" indent="0">
              <a:buNone/>
            </a:pPr>
            <a:endParaRPr lang="hr-HR" noProof="0" dirty="0"/>
          </a:p>
          <a:p>
            <a:pPr marL="0" lvl="0" indent="0">
              <a:spcBef>
                <a:spcPts val="1000"/>
              </a:spcBef>
              <a:buNone/>
            </a:pPr>
            <a:r>
              <a:rPr lang="hr-HR" b="1" dirty="0"/>
              <a:t>Strategija </a:t>
            </a:r>
            <a:r>
              <a:rPr lang="nn-NO" b="1" dirty="0"/>
              <a:t>sigurnosnog kopiranja temelji se na </a:t>
            </a:r>
            <a:r>
              <a:rPr lang="hr-HR" b="1" dirty="0"/>
              <a:t>dvije </a:t>
            </a:r>
            <a:r>
              <a:rPr lang="nn-NO" b="1"/>
              <a:t>skupine podataka:</a:t>
            </a:r>
            <a:endParaRPr lang="hr-HR" b="1" dirty="0"/>
          </a:p>
          <a:p>
            <a:pPr marL="171450" lvl="0" indent="-1714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dirty="0"/>
              <a:t>zajednički poslovni podaci</a:t>
            </a:r>
          </a:p>
          <a:p>
            <a:pPr marL="171450" lvl="0" indent="-1714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r-HR" dirty="0"/>
              <a:t>baza podataka (logička sigurnosna kopija – </a:t>
            </a:r>
            <a:r>
              <a:rPr lang="hr-HR" dirty="0" err="1"/>
              <a:t>dump</a:t>
            </a:r>
            <a:r>
              <a:rPr lang="hr-HR" dirty="0"/>
              <a:t>)</a:t>
            </a:r>
          </a:p>
          <a:p>
            <a:pPr marL="0" lvl="0" indent="0">
              <a:spcBef>
                <a:spcPts val="1000"/>
              </a:spcBef>
              <a:buNone/>
            </a:pPr>
            <a:endParaRPr lang="hr-HR" dirty="0"/>
          </a:p>
        </p:txBody>
      </p:sp>
      <p:pic>
        <p:nvPicPr>
          <p:cNvPr id="969" name="Google Shape;969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432" r="37002" b="10007"/>
          <a:stretch/>
        </p:blipFill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970" name="Google Shape;970;p31"/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/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/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/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/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/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/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/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/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/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/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/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/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/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/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/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/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/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r-HR" sz="1800" noProof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/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/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hr-HR" sz="1800" noProof="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/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/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/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/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1010" name="Google Shape;1010;p31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lang="hr-HR" sz="1800" noProof="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r-HR" sz="1800" noProof="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>
          <a:extLst>
            <a:ext uri="{FF2B5EF4-FFF2-40B4-BE49-F238E27FC236}">
              <a16:creationId xmlns:a16="http://schemas.microsoft.com/office/drawing/2014/main" id="{D95AEB39-933C-0FFC-E62E-4CDFF03E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>
            <a:extLst>
              <a:ext uri="{FF2B5EF4-FFF2-40B4-BE49-F238E27FC236}">
                <a16:creationId xmlns:a16="http://schemas.microsoft.com/office/drawing/2014/main" id="{02BF7BE5-38C1-37EF-861E-F2CF497C82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8643" y="98209"/>
            <a:ext cx="6802244" cy="10538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hr-HR" sz="2000" dirty="0"/>
              <a:t>…za dokumente primjenjuje se sljedeća politika izrade i zadržavanja sigurnosnih kopija</a:t>
            </a:r>
            <a:endParaRPr lang="hr-HR" sz="2000" noProof="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3BEE79E-A0E3-0746-6B17-299BA21C40B8}"/>
              </a:ext>
            </a:extLst>
          </p:cNvPr>
          <p:cNvSpPr txBox="1">
            <a:spLocks/>
          </p:cNvSpPr>
          <p:nvPr/>
        </p:nvSpPr>
        <p:spPr>
          <a:xfrm>
            <a:off x="1115120" y="1234255"/>
            <a:ext cx="7084741" cy="20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hr-HR" b="1" dirty="0"/>
              <a:t>dnevne inkrementalne sigurnosne kopije</a:t>
            </a:r>
            <a:r>
              <a:rPr lang="hr-HR" dirty="0"/>
              <a:t>, koje se čuvaju </a:t>
            </a:r>
            <a:r>
              <a:rPr lang="hr-HR" b="1" dirty="0"/>
              <a:t>30 dana</a:t>
            </a:r>
          </a:p>
          <a:p>
            <a:endParaRPr lang="hr-HR" dirty="0"/>
          </a:p>
          <a:p>
            <a:r>
              <a:rPr lang="hr-HR" b="1" dirty="0"/>
              <a:t>tjedne pune sigurnosne kopije</a:t>
            </a:r>
            <a:r>
              <a:rPr lang="hr-HR" dirty="0"/>
              <a:t>, koje se zadržavaju </a:t>
            </a:r>
            <a:r>
              <a:rPr lang="hr-HR" b="1" dirty="0"/>
              <a:t>365 dana</a:t>
            </a:r>
          </a:p>
          <a:p>
            <a:endParaRPr lang="hr-HR" dirty="0"/>
          </a:p>
          <a:p>
            <a:r>
              <a:rPr lang="hr-HR" b="1" dirty="0"/>
              <a:t>mjesečne arhivske pune sigurnosne kopije</a:t>
            </a:r>
            <a:r>
              <a:rPr lang="hr-HR" dirty="0"/>
              <a:t>, koje se pohranjuju na </a:t>
            </a:r>
            <a:r>
              <a:rPr lang="hr-HR" b="1" dirty="0"/>
              <a:t>neograničeno razdoblje</a:t>
            </a:r>
          </a:p>
          <a:p>
            <a:endParaRPr lang="hr-HR" b="1" dirty="0"/>
          </a:p>
          <a:p>
            <a:endParaRPr lang="hr-HR" b="1" dirty="0"/>
          </a:p>
          <a:p>
            <a:endParaRPr lang="hr-HR" b="1" dirty="0"/>
          </a:p>
          <a:p>
            <a:endParaRPr lang="hr-HR" b="1" dirty="0"/>
          </a:p>
          <a:p>
            <a:endParaRPr lang="hr-HR" b="1" dirty="0"/>
          </a:p>
          <a:p>
            <a:endParaRPr lang="hr-HR" b="1" dirty="0"/>
          </a:p>
          <a:p>
            <a:r>
              <a:rPr lang="hr-HR" b="1" dirty="0"/>
              <a:t>tjedne pune sigurnosne kopije</a:t>
            </a:r>
            <a:r>
              <a:rPr lang="hr-HR" dirty="0"/>
              <a:t>, koje se zadržavaju </a:t>
            </a:r>
            <a:r>
              <a:rPr lang="hr-HR" b="1" dirty="0"/>
              <a:t>365 dana</a:t>
            </a:r>
          </a:p>
          <a:p>
            <a:endParaRPr lang="hr-HR" dirty="0"/>
          </a:p>
          <a:p>
            <a:r>
              <a:rPr lang="hr-HR" b="1" dirty="0"/>
              <a:t>mjesečne arhivske pune sigurnosne kopije</a:t>
            </a:r>
            <a:r>
              <a:rPr lang="hr-HR" dirty="0"/>
              <a:t>, koje se pohranjuju na </a:t>
            </a:r>
            <a:r>
              <a:rPr lang="hr-HR" b="1" dirty="0"/>
              <a:t>neograničeno razdoblje</a:t>
            </a:r>
          </a:p>
          <a:p>
            <a:endParaRPr lang="hr-HR" b="1" dirty="0"/>
          </a:p>
          <a:p>
            <a:endParaRPr lang="hr-HR" dirty="0"/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643BC7F8-864E-68F7-2D7D-224395D2BBD5}"/>
              </a:ext>
            </a:extLst>
          </p:cNvPr>
          <p:cNvSpPr txBox="1"/>
          <p:nvPr/>
        </p:nvSpPr>
        <p:spPr>
          <a:xfrm>
            <a:off x="-501806" y="2797350"/>
            <a:ext cx="51592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dk1"/>
              </a:buClr>
              <a:buSzPts val="3000"/>
            </a:pPr>
            <a:r>
              <a:rPr lang="hr-HR" sz="2000" b="1" dirty="0">
                <a:solidFill>
                  <a:schemeClr val="dk1"/>
                </a:solidFill>
                <a:latin typeface="Epilogue"/>
                <a:sym typeface="Epilogue"/>
              </a:rPr>
              <a:t>…a za baze</a:t>
            </a:r>
          </a:p>
        </p:txBody>
      </p:sp>
    </p:spTree>
    <p:extLst>
      <p:ext uri="{BB962C8B-B14F-4D97-AF65-F5344CB8AC3E}">
        <p14:creationId xmlns:p14="http://schemas.microsoft.com/office/powerpoint/2010/main" val="369654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/>
          <p:cNvSpPr txBox="1">
            <a:spLocks noGrp="1"/>
          </p:cNvSpPr>
          <p:nvPr>
            <p:ph type="title"/>
          </p:nvPr>
        </p:nvSpPr>
        <p:spPr>
          <a:xfrm>
            <a:off x="720000" y="71356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hr-HR" noProof="0" dirty="0"/>
              <a:t>Scenariji gubitaka podataka i oporavka sustava</a:t>
            </a:r>
          </a:p>
        </p:txBody>
      </p:sp>
      <p:sp>
        <p:nvSpPr>
          <p:cNvPr id="1135" name="Google Shape;1135;p35"/>
          <p:cNvSpPr txBox="1">
            <a:spLocks noGrp="1"/>
          </p:cNvSpPr>
          <p:nvPr>
            <p:ph type="subTitle" idx="4"/>
          </p:nvPr>
        </p:nvSpPr>
        <p:spPr>
          <a:xfrm>
            <a:off x="855131" y="1719948"/>
            <a:ext cx="2973658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/>
            <a:r>
              <a:rPr lang="hr-HR" noProof="0" dirty="0"/>
              <a:t>Slučajno brisanje podataka</a:t>
            </a:r>
          </a:p>
        </p:txBody>
      </p:sp>
      <p:sp>
        <p:nvSpPr>
          <p:cNvPr id="1136" name="Google Shape;1136;p35"/>
          <p:cNvSpPr txBox="1">
            <a:spLocks noGrp="1"/>
          </p:cNvSpPr>
          <p:nvPr>
            <p:ph type="subTitle" idx="5"/>
          </p:nvPr>
        </p:nvSpPr>
        <p:spPr>
          <a:xfrm>
            <a:off x="5577690" y="1719948"/>
            <a:ext cx="2317374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/>
            <a:r>
              <a:rPr lang="hr-HR" noProof="0" dirty="0" err="1"/>
              <a:t>Ransomware</a:t>
            </a:r>
            <a:r>
              <a:rPr lang="hr-HR" noProof="0" dirty="0"/>
              <a:t> napad</a:t>
            </a:r>
          </a:p>
        </p:txBody>
      </p:sp>
      <p:sp>
        <p:nvSpPr>
          <p:cNvPr id="1137" name="Google Shape;1137;p35"/>
          <p:cNvSpPr txBox="1">
            <a:spLocks noGrp="1"/>
          </p:cNvSpPr>
          <p:nvPr>
            <p:ph type="subTitle" idx="1"/>
          </p:nvPr>
        </p:nvSpPr>
        <p:spPr>
          <a:xfrm>
            <a:off x="542693" y="2355440"/>
            <a:ext cx="3598535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dirty="0"/>
              <a:t>slučajnog brisanja jedne ili više datoteka iz zajedničkog direktorija</a:t>
            </a:r>
          </a:p>
          <a:p>
            <a:pPr marL="171450" indent="-171450">
              <a:buFont typeface="Lato" panose="020F0502020204030203" pitchFamily="34" charset="0"/>
              <a:buChar char="•"/>
            </a:pPr>
            <a:endParaRPr lang="hr-HR" noProof="0" dirty="0"/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dirty="0"/>
              <a:t>oporavak se provodi povratom obrisanih datoteka iz zadnje dostupne dnevne inkrementalne sigurnosne kopije</a:t>
            </a:r>
            <a:endParaRPr lang="hr-HR" noProof="0" dirty="0"/>
          </a:p>
        </p:txBody>
      </p:sp>
      <p:sp>
        <p:nvSpPr>
          <p:cNvPr id="1138" name="Google Shape;1138;p35"/>
          <p:cNvSpPr txBox="1">
            <a:spLocks noGrp="1"/>
          </p:cNvSpPr>
          <p:nvPr>
            <p:ph type="subTitle" idx="2"/>
          </p:nvPr>
        </p:nvSpPr>
        <p:spPr>
          <a:xfrm>
            <a:off x="4572000" y="2355440"/>
            <a:ext cx="4486099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dirty="0"/>
              <a:t>kompromitacija podataka u zajedničkim direktorijima (šifriranje ili izmjena sadržaja datoteka)</a:t>
            </a:r>
          </a:p>
          <a:p>
            <a:pPr marL="0" indent="0"/>
            <a:endParaRPr lang="pl-PL" noProof="0" dirty="0"/>
          </a:p>
          <a:p>
            <a:pPr marL="171450" indent="-171450">
              <a:buFont typeface="Lato" panose="020F0502020204030203" pitchFamily="34" charset="0"/>
              <a:buChar char="•"/>
            </a:pPr>
            <a:r>
              <a:rPr lang="hr-HR" dirty="0"/>
              <a:t>oporavak sustava provodi se vraćanjem podataka iz zadnje odabrane sigurnosne kopije</a:t>
            </a:r>
          </a:p>
          <a:p>
            <a:pPr marL="0" indent="0"/>
            <a:endParaRPr lang="hr-HR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>
          <a:extLst>
            <a:ext uri="{FF2B5EF4-FFF2-40B4-BE49-F238E27FC236}">
              <a16:creationId xmlns:a16="http://schemas.microsoft.com/office/drawing/2014/main" id="{8408B03B-7E0E-1389-6F13-A82DA7A1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>
            <a:extLst>
              <a:ext uri="{FF2B5EF4-FFF2-40B4-BE49-F238E27FC236}">
                <a16:creationId xmlns:a16="http://schemas.microsoft.com/office/drawing/2014/main" id="{36604F60-E86C-E3B5-2C90-9B7484FB66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180" y="277356"/>
            <a:ext cx="5116200" cy="10538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hr-HR" noProof="0" dirty="0"/>
              <a:t>RTO i RPO metrike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0AEFDD0-57E8-57C0-4BAC-24C31359478C}"/>
              </a:ext>
            </a:extLst>
          </p:cNvPr>
          <p:cNvSpPr txBox="1">
            <a:spLocks/>
          </p:cNvSpPr>
          <p:nvPr/>
        </p:nvSpPr>
        <p:spPr>
          <a:xfrm>
            <a:off x="984016" y="1872891"/>
            <a:ext cx="5944608" cy="20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52400" indent="0">
              <a:buNone/>
            </a:pPr>
            <a:r>
              <a:rPr lang="hr-HR" b="1" dirty="0"/>
              <a:t>Slučajno brisanje podataka</a:t>
            </a:r>
          </a:p>
          <a:p>
            <a:pPr>
              <a:buFont typeface="Courier New" panose="02070309020205020404" pitchFamily="49" charset="0"/>
              <a:buChar char="o"/>
            </a:pPr>
            <a:endParaRPr lang="hr-HR" b="1" dirty="0"/>
          </a:p>
          <a:p>
            <a:pPr>
              <a:buFont typeface="Courier New" panose="02070309020205020404" pitchFamily="49" charset="0"/>
              <a:buChar char="o"/>
            </a:pPr>
            <a:r>
              <a:rPr lang="hr-HR" b="1" dirty="0"/>
              <a:t>RPO</a:t>
            </a:r>
            <a:r>
              <a:rPr lang="hr-HR" dirty="0"/>
              <a:t> (</a:t>
            </a:r>
            <a:r>
              <a:rPr lang="hr-HR" dirty="0" err="1"/>
              <a:t>Recovery</a:t>
            </a:r>
            <a:r>
              <a:rPr lang="hr-HR" dirty="0"/>
              <a:t> </a:t>
            </a:r>
            <a:r>
              <a:rPr lang="hr-HR" dirty="0" err="1"/>
              <a:t>Point</a:t>
            </a:r>
            <a:r>
              <a:rPr lang="hr-HR" dirty="0"/>
              <a:t> </a:t>
            </a:r>
            <a:r>
              <a:rPr lang="hr-HR" dirty="0" err="1"/>
              <a:t>Objective</a:t>
            </a:r>
            <a:r>
              <a:rPr lang="hr-HR" dirty="0"/>
              <a:t>) - 24 sata</a:t>
            </a:r>
          </a:p>
          <a:p>
            <a:pPr marL="152400" indent="0">
              <a:buNone/>
            </a:pPr>
            <a:endParaRPr lang="hr-HR" noProof="0" dirty="0"/>
          </a:p>
          <a:p>
            <a:pPr>
              <a:buFont typeface="Courier New" panose="02070309020205020404" pitchFamily="49" charset="0"/>
              <a:buChar char="o"/>
            </a:pPr>
            <a:r>
              <a:rPr lang="hr-HR" b="1" dirty="0"/>
              <a:t>RTO</a:t>
            </a:r>
            <a:r>
              <a:rPr lang="hr-HR" dirty="0"/>
              <a:t> (</a:t>
            </a:r>
            <a:r>
              <a:rPr lang="hr-HR" dirty="0" err="1"/>
              <a:t>Recovery</a:t>
            </a:r>
            <a:r>
              <a:rPr lang="hr-HR" dirty="0"/>
              <a:t> Time </a:t>
            </a:r>
            <a:r>
              <a:rPr lang="hr-HR" dirty="0" err="1"/>
              <a:t>Objective</a:t>
            </a:r>
            <a:r>
              <a:rPr lang="hr-HR" dirty="0"/>
              <a:t>) – 30min do 1 sata</a:t>
            </a:r>
          </a:p>
          <a:p>
            <a:pPr marL="152400" indent="0">
              <a:buNone/>
            </a:pPr>
            <a:endParaRPr lang="hr-HR" sz="1100" noProof="0" dirty="0"/>
          </a:p>
          <a:p>
            <a:pPr marL="152400" indent="0">
              <a:buNone/>
            </a:pPr>
            <a:r>
              <a:rPr lang="hr-HR" b="1" dirty="0" err="1"/>
              <a:t>Ransomware</a:t>
            </a:r>
            <a:r>
              <a:rPr lang="hr-HR" b="1" dirty="0"/>
              <a:t> napad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hr-HR" b="1" dirty="0"/>
              <a:t>RPO</a:t>
            </a:r>
            <a:r>
              <a:rPr lang="hr-HR" dirty="0"/>
              <a:t> (</a:t>
            </a:r>
            <a:r>
              <a:rPr lang="hr-HR" dirty="0" err="1"/>
              <a:t>Recovery</a:t>
            </a:r>
            <a:r>
              <a:rPr lang="hr-HR" dirty="0"/>
              <a:t> </a:t>
            </a:r>
            <a:r>
              <a:rPr lang="hr-HR" dirty="0" err="1"/>
              <a:t>Point</a:t>
            </a:r>
            <a:r>
              <a:rPr lang="hr-HR" dirty="0"/>
              <a:t> </a:t>
            </a:r>
            <a:r>
              <a:rPr lang="hr-HR" dirty="0" err="1"/>
              <a:t>Objective</a:t>
            </a:r>
            <a:r>
              <a:rPr lang="hr-HR" dirty="0"/>
              <a:t>) - 24 sata</a:t>
            </a:r>
          </a:p>
          <a:p>
            <a:pPr marL="152400" indent="0">
              <a:buNone/>
            </a:pPr>
            <a:endParaRPr lang="hr-HR" dirty="0"/>
          </a:p>
          <a:p>
            <a:pPr>
              <a:buFont typeface="Courier New" panose="02070309020205020404" pitchFamily="49" charset="0"/>
              <a:buChar char="o"/>
            </a:pPr>
            <a:r>
              <a:rPr lang="hr-HR" b="1" dirty="0"/>
              <a:t>RTO</a:t>
            </a:r>
            <a:r>
              <a:rPr lang="hr-HR" dirty="0"/>
              <a:t> (</a:t>
            </a:r>
            <a:r>
              <a:rPr lang="hr-HR" dirty="0" err="1"/>
              <a:t>Recovery</a:t>
            </a:r>
            <a:r>
              <a:rPr lang="hr-HR" dirty="0"/>
              <a:t> Time </a:t>
            </a:r>
            <a:r>
              <a:rPr lang="hr-HR" dirty="0" err="1"/>
              <a:t>Objective</a:t>
            </a:r>
            <a:r>
              <a:rPr lang="hr-HR" dirty="0"/>
              <a:t>) - 4 do 24 sata</a:t>
            </a:r>
          </a:p>
          <a:p>
            <a:pPr marL="152400" indent="0">
              <a:buNone/>
            </a:pPr>
            <a:endParaRPr lang="hr-HR" b="1" dirty="0"/>
          </a:p>
          <a:p>
            <a:pPr marL="152400" indent="0">
              <a:buNone/>
            </a:pPr>
            <a:endParaRPr lang="hr-HR" b="1" dirty="0"/>
          </a:p>
          <a:p>
            <a:pPr marL="152400" indent="0">
              <a:buNone/>
            </a:pPr>
            <a:endParaRPr lang="hr-HR" sz="1100" noProof="0" dirty="0"/>
          </a:p>
          <a:p>
            <a:pPr marL="323850" indent="-171450">
              <a:buFont typeface="Arial"/>
              <a:buChar char="•"/>
            </a:pPr>
            <a:endParaRPr lang="hr-HR" sz="1100" noProof="0" dirty="0">
              <a:latin typeface="Arial"/>
              <a:cs typeface="Arial"/>
            </a:endParaRPr>
          </a:p>
          <a:p>
            <a:pPr marL="323850" indent="-171450">
              <a:buFont typeface="Arial"/>
              <a:buChar char="•"/>
            </a:pP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289232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5EEF8-34DE-524E-5809-A09D1B160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72F6-1C58-5187-24B9-6EE30192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350" y="1347460"/>
            <a:ext cx="5116200" cy="1390500"/>
          </a:xfrm>
        </p:spPr>
        <p:txBody>
          <a:bodyPr/>
          <a:lstStyle/>
          <a:p>
            <a:r>
              <a:rPr lang="hr-HR" dirty="0"/>
              <a:t>s</a:t>
            </a:r>
            <a:r>
              <a:rPr lang="hr-HR" noProof="0" dirty="0" err="1"/>
              <a:t>lijedi</a:t>
            </a:r>
            <a:r>
              <a:rPr lang="hr-HR" noProof="0" dirty="0"/>
              <a:t> programski dio…</a:t>
            </a:r>
          </a:p>
        </p:txBody>
      </p:sp>
      <p:pic>
        <p:nvPicPr>
          <p:cNvPr id="1026" name="Picture 2" descr="Coding PNGs for Free Download">
            <a:extLst>
              <a:ext uri="{FF2B5EF4-FFF2-40B4-BE49-F238E27FC236}">
                <a16:creationId xmlns:a16="http://schemas.microsoft.com/office/drawing/2014/main" id="{44D3CC3D-9489-4C65-F040-39786310A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385" y="2511984"/>
            <a:ext cx="2929241" cy="219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64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8BD67F0-FC75-EE3E-2E49-ABF81E568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055" y="223024"/>
            <a:ext cx="5116200" cy="1390500"/>
          </a:xfrm>
        </p:spPr>
        <p:txBody>
          <a:bodyPr/>
          <a:lstStyle/>
          <a:p>
            <a:r>
              <a:rPr lang="hr-HR" dirty="0"/>
              <a:t>Zaključak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1B59458-004F-54F0-0FB6-25EBB521B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4055" y="1874687"/>
            <a:ext cx="6944298" cy="2070900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hr-HR" dirty="0"/>
              <a:t>sustav sigurnosnog kopiranja pokazao se pouzdanim i funkcionalnim</a:t>
            </a:r>
          </a:p>
          <a:p>
            <a:pPr>
              <a:buFont typeface="Courier New" panose="02070309020205020404" pitchFamily="49" charset="0"/>
              <a:buChar char="o"/>
            </a:pPr>
            <a:endParaRPr lang="hr-HR" dirty="0"/>
          </a:p>
          <a:p>
            <a:pPr>
              <a:buFont typeface="Courier New" panose="02070309020205020404" pitchFamily="49" charset="0"/>
              <a:buChar char="o"/>
            </a:pPr>
            <a:r>
              <a:rPr lang="hr-HR" dirty="0"/>
              <a:t>validacija uspješno detektira nepotpune i neispravne postupke oporavka podataka</a:t>
            </a:r>
          </a:p>
          <a:p>
            <a:pPr marL="152400" indent="0">
              <a:buNone/>
            </a:pPr>
            <a:endParaRPr lang="hr-HR" dirty="0"/>
          </a:p>
          <a:p>
            <a:pPr>
              <a:buFont typeface="Courier New" panose="02070309020205020404" pitchFamily="49" charset="0"/>
              <a:buChar char="o"/>
            </a:pPr>
            <a:r>
              <a:rPr lang="hr-HR" dirty="0"/>
              <a:t>razlike u </a:t>
            </a:r>
            <a:r>
              <a:rPr lang="hr-HR" dirty="0" err="1"/>
              <a:t>hash</a:t>
            </a:r>
            <a:r>
              <a:rPr lang="hr-HR" dirty="0"/>
              <a:t> vrijednostima </a:t>
            </a:r>
            <a:r>
              <a:rPr lang="hr-HR" dirty="0" err="1"/>
              <a:t>dumpa</a:t>
            </a:r>
            <a:r>
              <a:rPr lang="hr-HR" dirty="0"/>
              <a:t> baze ne utječu na ispravnost podataka</a:t>
            </a:r>
          </a:p>
          <a:p>
            <a:pPr>
              <a:buFont typeface="Courier New" panose="02070309020205020404" pitchFamily="49" charset="0"/>
              <a:buChar char="o"/>
            </a:pPr>
            <a:endParaRPr lang="hr-HR" dirty="0"/>
          </a:p>
          <a:p>
            <a:pPr>
              <a:buFont typeface="Courier New" panose="02070309020205020404" pitchFamily="49" charset="0"/>
              <a:buChar char="o"/>
            </a:pPr>
            <a:r>
              <a:rPr lang="hr-HR" dirty="0"/>
              <a:t>stvarno vrijeme oporavka (RTA): </a:t>
            </a:r>
          </a:p>
          <a:p>
            <a:pPr marL="152400" indent="0">
              <a:buNone/>
            </a:pPr>
            <a:r>
              <a:rPr lang="hr-HR" dirty="0"/>
              <a:t>		</a:t>
            </a:r>
            <a:r>
              <a:rPr lang="hr-HR" b="1" dirty="0"/>
              <a:t>-&gt;</a:t>
            </a:r>
            <a:r>
              <a:rPr lang="hr-HR" dirty="0"/>
              <a:t> </a:t>
            </a:r>
            <a:r>
              <a:rPr lang="hr-HR" dirty="0" err="1"/>
              <a:t>ransomware</a:t>
            </a:r>
            <a:r>
              <a:rPr lang="hr-HR" dirty="0"/>
              <a:t>: 90 min</a:t>
            </a:r>
          </a:p>
          <a:p>
            <a:pPr marL="152400" indent="0">
              <a:buNone/>
            </a:pPr>
            <a:r>
              <a:rPr lang="hr-HR" dirty="0"/>
              <a:t>		</a:t>
            </a:r>
            <a:r>
              <a:rPr lang="hr-HR" b="1" dirty="0"/>
              <a:t>-&gt;</a:t>
            </a:r>
            <a:r>
              <a:rPr lang="hr-HR" dirty="0"/>
              <a:t> brisanje: 5-10min)</a:t>
            </a:r>
          </a:p>
          <a:p>
            <a:pPr>
              <a:buFont typeface="Courier New" panose="02070309020205020404" pitchFamily="49" charset="0"/>
              <a:buChar char="o"/>
            </a:pPr>
            <a:endParaRPr lang="hr-HR" dirty="0"/>
          </a:p>
          <a:p>
            <a:pPr>
              <a:buFont typeface="Courier New" panose="02070309020205020404" pitchFamily="49" charset="0"/>
              <a:buChar char="o"/>
            </a:pPr>
            <a:r>
              <a:rPr lang="hr-HR" dirty="0"/>
              <a:t>sustav omogućuje učinkovit oporavak, ali u slučaju </a:t>
            </a:r>
            <a:r>
              <a:rPr lang="hr-HR" dirty="0" err="1"/>
              <a:t>ransomware</a:t>
            </a:r>
            <a:r>
              <a:rPr lang="hr-HR" dirty="0"/>
              <a:t> napada bilo bi dobro da se kopirale konfiguracijske datoteke</a:t>
            </a:r>
          </a:p>
        </p:txBody>
      </p:sp>
    </p:spTree>
    <p:extLst>
      <p:ext uri="{BB962C8B-B14F-4D97-AF65-F5344CB8AC3E}">
        <p14:creationId xmlns:p14="http://schemas.microsoft.com/office/powerpoint/2010/main" val="331798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17F4-93CC-0344-CF99-F5C17ADDA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117" y="1533314"/>
            <a:ext cx="5116200" cy="1390500"/>
          </a:xfrm>
        </p:spPr>
        <p:txBody>
          <a:bodyPr/>
          <a:lstStyle/>
          <a:p>
            <a:r>
              <a:rPr lang="hr-HR" noProof="0" dirty="0"/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293379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4c7a3f-3181-4aa1-a930-01cb03ea38d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0EA3960323DC648BCD6CA5F8CDE016B" ma:contentTypeVersion="6" ma:contentTypeDescription="Stvaranje novog dokumenta." ma:contentTypeScope="" ma:versionID="aeef45f2bcd3387fe30dd128fd197d83">
  <xsd:schema xmlns:xsd="http://www.w3.org/2001/XMLSchema" xmlns:xs="http://www.w3.org/2001/XMLSchema" xmlns:p="http://schemas.microsoft.com/office/2006/metadata/properties" xmlns:ns3="d74c7a3f-3181-4aa1-a930-01cb03ea38df" targetNamespace="http://schemas.microsoft.com/office/2006/metadata/properties" ma:root="true" ma:fieldsID="5ec401a22114cec9dcf96be5ab7e4ced" ns3:_="">
    <xsd:import namespace="d74c7a3f-3181-4aa1-a930-01cb03ea38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4c7a3f-3181-4aa1-a930-01cb03ea38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E84F3A-112B-40B6-B32E-6E8061672EF7}">
  <ds:schemaRefs>
    <ds:schemaRef ds:uri="http://purl.org/dc/dcmitype/"/>
    <ds:schemaRef ds:uri="http://www.w3.org/XML/1998/namespace"/>
    <ds:schemaRef ds:uri="http://schemas.openxmlformats.org/package/2006/metadata/core-properties"/>
    <ds:schemaRef ds:uri="http://purl.org/dc/elements/1.1/"/>
    <ds:schemaRef ds:uri="d74c7a3f-3181-4aa1-a930-01cb03ea38df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460EE66-43AE-46FF-9579-38B6390CED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4C64BD-B0DB-489A-A5A4-DFEC2CDBB0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4c7a3f-3181-4aa1-a930-01cb03ea3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494</Words>
  <Application>Microsoft Office PowerPoint</Application>
  <PresentationFormat>Prikaz na zaslonu (16:9)</PresentationFormat>
  <Paragraphs>80</Paragraphs>
  <Slides>9</Slides>
  <Notes>6</Notes>
  <HiddenSlides>0</HiddenSlides>
  <MMClips>0</MMClips>
  <ScaleCrop>false</ScaleCrop>
  <HeadingPairs>
    <vt:vector size="6" baseType="variant">
      <vt:variant>
        <vt:lpstr>Korišteni fontovi</vt:lpstr>
      </vt:variant>
      <vt:variant>
        <vt:i4>10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9</vt:i4>
      </vt:variant>
    </vt:vector>
  </HeadingPairs>
  <TitlesOfParts>
    <vt:vector size="20" baseType="lpstr">
      <vt:lpstr>Lato</vt:lpstr>
      <vt:lpstr>PT Sans</vt:lpstr>
      <vt:lpstr>Courier New</vt:lpstr>
      <vt:lpstr>Open Sans</vt:lpstr>
      <vt:lpstr>Raleway</vt:lpstr>
      <vt:lpstr>Roboto</vt:lpstr>
      <vt:lpstr>Calibri</vt:lpstr>
      <vt:lpstr>Arial</vt:lpstr>
      <vt:lpstr>Epilogue</vt:lpstr>
      <vt:lpstr>Nunito Light</vt:lpstr>
      <vt:lpstr>Multimedia Software Pitch Deck by Slidesgo</vt:lpstr>
      <vt:lpstr>Implementacija, testiranje i procjena otporne backup strategije</vt:lpstr>
      <vt:lpstr>Testno okruženje i korišteni alati</vt:lpstr>
      <vt:lpstr>Strategija sigurnosnih kopija</vt:lpstr>
      <vt:lpstr>…za dokumente primjenjuje se sljedeća politika izrade i zadržavanja sigurnosnih kopija</vt:lpstr>
      <vt:lpstr>Scenariji gubitaka podataka i oporavka sustava</vt:lpstr>
      <vt:lpstr>RTO i RPO metrike</vt:lpstr>
      <vt:lpstr>slijedi programski dio…</vt:lpstr>
      <vt:lpstr>Zaključak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Ivana Hranj</dc:creator>
  <cp:lastModifiedBy>Lovro Balent</cp:lastModifiedBy>
  <cp:revision>96</cp:revision>
  <dcterms:modified xsi:type="dcterms:W3CDTF">2026-01-13T16:31:03Z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0x010100C0EA3960323DC648BCD6CA5F8CDE016B</vt:lpwstr>
  </property>
</Properties>
</file>